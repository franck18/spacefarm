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142820"/>
                </a:solidFill>
                <a:latin typeface="Arial"/>
              </a:defRPr>
            </a:pPr>
            <a:r>
              <a:rPr lang="fr-FR" sz="1200" b="0" i="0" u="none" strike="noStrike">
                <a:solidFill>
                  <a:srgbClr val="142820"/>
                </a:solidFill>
                <a:latin typeface="Arial"/>
              </a:rPr>
              <a:t>Eau par jour et par culture (litres)</a:t>
            </a:r>
          </a:p>
        </c:rich>
      </c:tx>
      <c:overlay val="0"/>
    </c:title>
    <c:autoTitleDeleted val="0"/>
    <c:plotArea>
      <c:layout/>
      <c:barChart>
        <c:barDir val="col"/>
        <c:grouping val="clustered"/>
        <c:varyColors val="0"/>
        <c:ser>
          <c:idx val="0"/>
          <c:order val="0"/>
          <c:tx>
            <c:strRef>
              <c:f>Sheet1!$B$1</c:f>
              <c:strCache>
                <c:ptCount val="1"/>
                <c:pt idx="0">
                  <c:v>Normal</c:v>
                </c:pt>
              </c:strCache>
            </c:strRef>
          </c:tx>
          <c:spPr>
            <a:solidFill>
              <a:srgbClr val="006B45"/>
            </a:solidFill>
            <a:effectLst/>
          </c:spPr>
          <c:invertIfNegative val="0"/>
          <c:dLbls>
            <c:numFmt formatCode="0.00" sourceLinked="0"/>
            <c:spPr>
              <a:noFill/>
              <a:ln>
                <a:noFill/>
              </a:ln>
              <a:effectLst/>
            </c:spPr>
            <c:txPr>
              <a:bodyPr/>
              <a:lstStyle/>
              <a:p>
                <a:pPr>
                  <a:defRPr sz="1000" b="0" i="0" u="none" strike="noStrike">
                    <a:solidFill>
                      <a:srgbClr val="14282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Laitue</c:v>
                </c:pt>
                <c:pt idx="1">
                  <c:v>Basilic</c:v>
                </c:pt>
                <c:pt idx="2">
                  <c:v>Tomate</c:v>
                </c:pt>
              </c:strCache>
            </c:strRef>
          </c:cat>
          <c:val>
            <c:numRef>
              <c:f>Sheet1!$B$2:$B$4</c:f>
              <c:numCache>
                <c:formatCode>General</c:formatCode>
                <c:ptCount val="3"/>
                <c:pt idx="0">
                  <c:v>1.2</c:v>
                </c:pt>
                <c:pt idx="1">
                  <c:v>0.72</c:v>
                </c:pt>
                <c:pt idx="2">
                  <c:v>0.48</c:v>
                </c:pt>
              </c:numCache>
            </c:numRef>
          </c:val>
          <c:extLst>
            <c:ext xmlns:c16="http://schemas.microsoft.com/office/drawing/2014/chart" uri="{C3380CC4-5D6E-409C-BE32-E72D297353CC}">
              <c16:uniqueId val="{00000000-59C5-43AC-863A-7C5CCF1EF5BE}"/>
            </c:ext>
          </c:extLst>
        </c:ser>
        <c:ser>
          <c:idx val="1"/>
          <c:order val="1"/>
          <c:tx>
            <c:strRef>
              <c:f>Sheet1!$C$1</c:f>
              <c:strCache>
                <c:ptCount val="1"/>
                <c:pt idx="0">
                  <c:v>Crise</c:v>
                </c:pt>
              </c:strCache>
            </c:strRef>
          </c:tx>
          <c:spPr>
            <a:solidFill>
              <a:srgbClr val="955000"/>
            </a:solidFill>
            <a:effectLst/>
          </c:spPr>
          <c:invertIfNegative val="0"/>
          <c:dLbls>
            <c:numFmt formatCode="0.00" sourceLinked="0"/>
            <c:spPr>
              <a:noFill/>
              <a:ln>
                <a:noFill/>
              </a:ln>
              <a:effectLst/>
            </c:spPr>
            <c:txPr>
              <a:bodyPr/>
              <a:lstStyle/>
              <a:p>
                <a:pPr>
                  <a:defRPr sz="1000" b="0" i="0" u="none" strike="noStrike">
                    <a:solidFill>
                      <a:srgbClr val="14282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Laitue</c:v>
                </c:pt>
                <c:pt idx="1">
                  <c:v>Basilic</c:v>
                </c:pt>
                <c:pt idx="2">
                  <c:v>Tomate</c:v>
                </c:pt>
              </c:strCache>
            </c:strRef>
          </c:cat>
          <c:val>
            <c:numRef>
              <c:f>Sheet1!$C$2:$C$4</c:f>
              <c:numCache>
                <c:formatCode>General</c:formatCode>
                <c:ptCount val="3"/>
                <c:pt idx="0">
                  <c:v>1.05</c:v>
                </c:pt>
                <c:pt idx="1">
                  <c:v>0.45</c:v>
                </c:pt>
                <c:pt idx="2">
                  <c:v>0</c:v>
                </c:pt>
              </c:numCache>
            </c:numRef>
          </c:val>
          <c:extLst>
            <c:ext xmlns:c16="http://schemas.microsoft.com/office/drawing/2014/chart" uri="{C3380CC4-5D6E-409C-BE32-E72D297353CC}">
              <c16:uniqueId val="{00000001-59C5-43AC-863A-7C5CCF1EF5B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738A7D"/>
            </a:solidFill>
            <a:prstDash val="solid"/>
            <a:round/>
          </a:ln>
        </c:spPr>
        <c:txPr>
          <a:bodyPr/>
          <a:lstStyle/>
          <a:p>
            <a:pPr>
              <a:defRPr sz="1200" b="0" i="0" u="none" strike="noStrike">
                <a:solidFill>
                  <a:srgbClr val="142820"/>
                </a:solidFill>
                <a:latin typeface="Arial"/>
              </a:defRPr>
            </a:pPr>
            <a:endParaRPr lang="en-US"/>
          </a:p>
        </c:txPr>
        <c:crossAx val="2094734552"/>
        <c:crosses val="autoZero"/>
        <c:auto val="1"/>
        <c:lblAlgn val="ctr"/>
        <c:lblOffset val="100"/>
        <c:noMultiLvlLbl val="1"/>
      </c:catAx>
      <c:valAx>
        <c:axId val="2094734552"/>
        <c:scaling>
          <c:orientation val="minMax"/>
          <c:max val="1.4"/>
        </c:scaling>
        <c:delete val="0"/>
        <c:axPos val="l"/>
        <c:majorGridlines>
          <c:spPr>
            <a:ln w="6350" cap="flat">
              <a:solidFill>
                <a:srgbClr val="B9CEC0"/>
              </a:solidFill>
              <a:prstDash val="solid"/>
              <a:round/>
            </a:ln>
          </c:spPr>
        </c:majorGridlines>
        <c:numFmt formatCode="General" sourceLinked="0"/>
        <c:majorTickMark val="out"/>
        <c:minorTickMark val="none"/>
        <c:tickLblPos val="nextTo"/>
        <c:spPr>
          <a:ln w="12700" cap="flat">
            <a:solidFill>
              <a:srgbClr val="738A7D"/>
            </a:solidFill>
            <a:prstDash val="solid"/>
            <a:round/>
          </a:ln>
        </c:spPr>
        <c:txPr>
          <a:bodyPr/>
          <a:lstStyle/>
          <a:p>
            <a:pPr>
              <a:defRPr sz="900" b="0" i="0" u="none" strike="noStrike">
                <a:solidFill>
                  <a:srgbClr val="43574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42820"/>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30 s — MINUTE 1 EN ANGLAIS (obligatoire).
Chaque membre se présente : « Hi, I'm …, I worked on the Arduino sensors / the Raspberry Pi server / the web dashboard / the 3D case. »
Puis la phrase d'accroche : « We built SpaceFarm, a small connected greenhouse that watches over the crops of a spaceship, on its own.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s — LE PROBLÈME.
« En 2080, un vaisseau part pour des années. Pas de supermarché, pas de ravitaillement : il faut faire pousser sa nourriture à bord. Mais une plante, ça a besoin d'eau, de lumière et de la bonne température. Si personne ne regarde la serre et qu'il y a une panne ou une fuite, la récolte meurt… et l'équipage n'a plus à manger. Le sujet nous impose même une crise : il ne reste plus que 40 % de l'eau.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s — NOTRE IDÉE.
« SpaceFarm fait 4 choses, comme un jardinier qui ne dort jamais. 1) Il MESURE avec des capteurs. 2) Il ENREGISTRE tout dans un petit ordinateur, le Raspberry Pi. 3) Il AFFICHE tout sur un site web, en direct. 4) Il AGIT : quand il fait noir, il allume la lumière tout seul. En bonus, on peut simuler une crise d'eau pour s'entraîner.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30 s — COMMENT ÇA MARCHE.
« On a trois étages. En bas, l'Arduino Yún : ce sont les yeux et les mains, il lit les capteurs et allume la LED. Toutes les 2 secondes, il envoie ses mesures au Raspberry Pi par Wi-Fi. Le Pi, c'est la mémoire et le cerveau : il vérifie, range dans la base SQLite et décide pour la lumière. Sa décision repart directement dans la réponse à l'Arduino. Enfin, le navigateur affiche le tableau de bord et redemande l'état toutes les 3 secondes. Tout fonctionne en réseau local, sans Internet — important dans l'espace.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DHT11 mesure la température et l’humidité de l’air. La photorésistance mesure la luminosité relative et la sonde indique le niveau du réservoir. La Yún transmet ces quatre mesures au Raspberry Pi et commande la LED. Le tableau de bord permet de consulter les valeurs, l’historique et les alertes.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Yún lit les capteurs et transmet le JSON toutes les deux secondes. Le Pi vérifie les mesures, les enregistre dans SQLite et renvoie une commande de LED si nécessaire. Le site demande un nouvel état toutes les trois secondes, affiche les mesures et signale une perte de connexion.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s — LE TABLEAU DE BORD (+ démo live si le Wi-Fi fonctionne : http://192.168.41.88:8000/?source=api).
« Voici le vrai tableau de bord, branché sur le Pi. En haut, les 4 mesures importantes : température, humidité, lumière, réservoir. Au milieu, l'historique sur 1 h, 6 h ou 24 h. À droite, le mode automatique ou manuel. Un voyant global passe de NORMAL à ATTENTION ou CRITIQUE. Si la démo live ne marche pas, on garde cette capture.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s — L'AUTOMATISATION.
« Le capteur de lumière donne un nombre entre 0 et 1023 : plus il fait noir, plus il est grand. Le Pi allume la LED au-dessus de 650 et l'éteint en dessous de 450. Pourquoi deux seuils ? Avec un seul, la LED clignoterait sans arrêt quand la lumière est pile à la limite. Entre les deux, on ne change rien. On l'a testé en vrai : main sur le capteur, la LED s'allume ; main enlevée, elle s'éteint. On peut aussi passer en manuel depuis le site.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Données conservées du diaporama source : normal 1,20 + 0,72 + 0,48 = 2,40 L/j ; crise 1,05 + 0,45 + 0 = 1,50 L/j, soit 62,5 % du normal. Le scénario mentionne une réserve à 40 %. Ces deux pourcentages ne décrivent pas la même grandeur. La relation entre réserve disponible, durée et allocation nécessite une validation du modèle. Simulation uniquement, sans commande matérielle.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projet est à rendre vendredi. Le tuyau arrive lundi, après la date de rendu, et du matériel manque encore. L’intégration de la pompe est donc reportée après le rendu. La démonstration de vendredi porte sur les quatre mesures, le tableau de bord, l’historique, les alertes et le pilotage de la LED. La sonde de niveau d’eau reste dans le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prototype transmet les quatre mesures par Wi-Fi, conserve un historique et affiche les alertes. La LED fonctionne en automatique et en manuel. La gestion des cultures et la crise d’eau relèvent de la simulation. Les améliorations envisagées portent sur l’étalonnage, la protection des commandes et la documentation. L’irrigation est reportée faute de matériel disponible à temps.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prochaines améliorations proposées concernent l’étalonnage des mesures, la protection des commandes, la précision des alertes et la documentation de l’installation. Le prototype actuel permet déjà de suivre quatre mesures et de piloter l’éclairage en réseau local.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053A7255-BEF3-4D3E-97F9-F9C482E102EA}"/>
              </a:ext>
            </a:extLst>
          </p:cNvPr>
          <p:cNvSpPr>
            <a:spLocks noGrp="1"/>
          </p:cNvSpPr>
          <p:nvPr/>
        </p:nvSpPr>
        <p:spPr>
          <a:xfrm>
            <a:off x="502920" y="548640"/>
            <a:ext cx="4937760" cy="27432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WORKSHOP HORIZON 2080  ·  PILIER 2 FOODTECH &amp; AGRITECH</a:t>
            </a:r>
            <a:endParaRPr sz="1000"/>
          </a:p>
        </p:txBody>
      </p:sp>
      <p:sp>
        <p:nvSpPr>
          <p:cNvPr id="5" name="Text 1">
            <a:extLst>
              <a:ext uri="{FF2B5EF4-FFF2-40B4-BE49-F238E27FC236}">
                <a16:creationId xmlns:a16="http://schemas.microsoft.com/office/drawing/2014/main" id="{6FDE52FF-85EE-4A7E-BFD4-B05B6B258E28}"/>
              </a:ext>
            </a:extLst>
          </p:cNvPr>
          <p:cNvSpPr>
            <a:spLocks noGrp="1"/>
          </p:cNvSpPr>
          <p:nvPr/>
        </p:nvSpPr>
        <p:spPr>
          <a:xfrm>
            <a:off x="502920" y="1188720"/>
            <a:ext cx="4937760" cy="914400"/>
          </a:xfrm>
          <a:prstGeom prst="rect">
            <a:avLst/>
          </a:prstGeom>
          <a:noFill/>
        </p:spPr>
        <p:txBody>
          <a:bodyPr wrap="square" lIns="0" tIns="0" rIns="0" bIns="0" anchor="t"/>
          <a:lstStyle/>
          <a:p>
            <a:pPr marL="0" indent="0">
              <a:buNone/>
            </a:pPr>
            <a:r>
              <a:rPr sz="5400" b="1">
                <a:solidFill>
                  <a:srgbClr val="142820"/>
                </a:solidFill>
                <a:latin typeface="Arial"/>
                <a:ea typeface="Arial"/>
                <a:cs typeface="Arial"/>
              </a:rPr>
              <a:t>SpaceFarm</a:t>
            </a:r>
            <a:endParaRPr sz="5400"/>
          </a:p>
        </p:txBody>
      </p:sp>
      <p:sp>
        <p:nvSpPr>
          <p:cNvPr id="6" name="Text 2">
            <a:extLst>
              <a:ext uri="{FF2B5EF4-FFF2-40B4-BE49-F238E27FC236}">
                <a16:creationId xmlns:a16="http://schemas.microsoft.com/office/drawing/2014/main" id="{8FA1F0DF-7EE1-4E21-BDD1-E36B5AD8F3CB}"/>
              </a:ext>
            </a:extLst>
          </p:cNvPr>
          <p:cNvSpPr>
            <a:spLocks noGrp="1"/>
          </p:cNvSpPr>
          <p:nvPr/>
        </p:nvSpPr>
        <p:spPr>
          <a:xfrm>
            <a:off x="502920" y="2103120"/>
            <a:ext cx="4937760" cy="731520"/>
          </a:xfrm>
          <a:prstGeom prst="rect">
            <a:avLst/>
          </a:prstGeom>
          <a:noFill/>
        </p:spPr>
        <p:txBody>
          <a:bodyPr wrap="square" lIns="0" tIns="0" rIns="0" bIns="0" anchor="t"/>
          <a:lstStyle/>
          <a:p>
            <a:pPr marL="0" indent="0">
              <a:buNone/>
            </a:pPr>
            <a:r>
              <a:rPr sz="4400" b="1">
                <a:solidFill>
                  <a:srgbClr val="006B45"/>
                </a:solidFill>
                <a:latin typeface="Arial"/>
                <a:ea typeface="Arial"/>
                <a:cs typeface="Arial"/>
              </a:rPr>
              <a:t>2080</a:t>
            </a:r>
            <a:endParaRPr sz="4400"/>
          </a:p>
        </p:txBody>
      </p:sp>
      <p:sp>
        <p:nvSpPr>
          <p:cNvPr id="7" name="Text 3">
            <a:extLst>
              <a:ext uri="{FF2B5EF4-FFF2-40B4-BE49-F238E27FC236}">
                <a16:creationId xmlns:a16="http://schemas.microsoft.com/office/drawing/2014/main" id="{DFECC269-3204-496E-8FBB-03B231AFAA6F}"/>
              </a:ext>
            </a:extLst>
          </p:cNvPr>
          <p:cNvSpPr>
            <a:spLocks noGrp="1"/>
          </p:cNvSpPr>
          <p:nvPr/>
        </p:nvSpPr>
        <p:spPr>
          <a:xfrm>
            <a:off x="502920" y="2926080"/>
            <a:ext cx="4572000" cy="731520"/>
          </a:xfrm>
          <a:prstGeom prst="rect">
            <a:avLst/>
          </a:prstGeom>
          <a:noFill/>
        </p:spPr>
        <p:txBody>
          <a:bodyPr wrap="square" lIns="0" tIns="0" rIns="0" bIns="0" anchor="t"/>
          <a:lstStyle/>
          <a:p>
            <a:pPr marL="0" indent="0">
              <a:buNone/>
            </a:pPr>
            <a:r>
              <a:rPr sz="1600">
                <a:solidFill>
                  <a:srgbClr val="142820"/>
                </a:solidFill>
                <a:latin typeface="Calibri"/>
                <a:ea typeface="Calibri"/>
                <a:cs typeface="Calibri"/>
              </a:rPr>
              <a:t>Un prototype de serre connectée pour surveiller les cultures et automatiser leur éclairage.</a:t>
            </a:r>
            <a:endParaRPr sz="1600"/>
          </a:p>
        </p:txBody>
      </p:sp>
      <p:sp>
        <p:nvSpPr>
          <p:cNvPr id="8" name="Text 4">
            <a:extLst>
              <a:ext uri="{FF2B5EF4-FFF2-40B4-BE49-F238E27FC236}">
                <a16:creationId xmlns:a16="http://schemas.microsoft.com/office/drawing/2014/main" id="{972246D9-BD4D-403C-832A-77542D9811B3}"/>
              </a:ext>
            </a:extLst>
          </p:cNvPr>
          <p:cNvSpPr>
            <a:spLocks noGrp="1"/>
          </p:cNvSpPr>
          <p:nvPr/>
        </p:nvSpPr>
        <p:spPr>
          <a:xfrm>
            <a:off x="502920" y="4343400"/>
            <a:ext cx="4572000" cy="274320"/>
          </a:xfrm>
          <a:prstGeom prst="rect">
            <a:avLst/>
          </a:prstGeom>
          <a:noFill/>
        </p:spPr>
        <p:txBody>
          <a:bodyPr wrap="square" lIns="0" tIns="0" rIns="0" bIns="0" anchor="t"/>
          <a:lstStyle/>
          <a:p>
            <a:pPr marL="0" indent="0">
              <a:buNone/>
            </a:pPr>
            <a:r>
              <a:rPr sz="1100">
                <a:solidFill>
                  <a:srgbClr val="43574D"/>
                </a:solidFill>
                <a:latin typeface="Calibri"/>
                <a:ea typeface="Calibri"/>
                <a:cs typeface="Calibri"/>
              </a:rPr>
              <a:t>EPSI Bachelor 3  ·  Septembre 2026</a:t>
            </a:r>
            <a:endParaRPr sz="1100"/>
          </a:p>
        </p:txBody>
      </p:sp>
      <p:pic>
        <p:nvPicPr>
          <p:cNvPr id="10" name="Image 0"/>
          <p:cNvPicPr>
            <a:picLocks noChangeAspect="1"/>
          </p:cNvPicPr>
          <p:nvPr/>
        </p:nvPicPr>
        <p:blipFill>
          <a:blip r:embed="rId3"/>
          <a:srcRect/>
          <a:stretch/>
        </p:blipFill>
        <p:spPr>
          <a:xfrm>
            <a:off x="5577840" y="0"/>
            <a:ext cx="3566160" cy="5143500"/>
          </a:xfrm>
          <a:prstGeom prst="rect">
            <a:avLst/>
          </a:prstGeom>
        </p:spPr>
      </p:pic>
    </p:spTree>
    <p:extLst>
      <p:ext uri="{BB962C8B-B14F-4D97-AF65-F5344CB8AC3E}">
        <p14:creationId xmlns:p14="http://schemas.microsoft.com/office/powerpoint/2010/main" val="1380416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5C38DDE-6E5C-42C0-9FF8-705E341F5C6C}"/>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LE PROBLÈME</a:t>
            </a:r>
            <a:endParaRPr sz="1000"/>
          </a:p>
        </p:txBody>
      </p:sp>
      <p:sp>
        <p:nvSpPr>
          <p:cNvPr id="4" name="Text 1">
            <a:extLst>
              <a:ext uri="{FF2B5EF4-FFF2-40B4-BE49-F238E27FC236}">
                <a16:creationId xmlns:a16="http://schemas.microsoft.com/office/drawing/2014/main" id="{E4AADBFB-3F58-41BA-8706-47E4BEF79CC0}"/>
              </a:ext>
            </a:extLst>
          </p:cNvPr>
          <p:cNvSpPr>
            <a:spLocks noGrp="1"/>
          </p:cNvSpPr>
          <p:nvPr/>
        </p:nvSpPr>
        <p:spPr>
          <a:xfrm>
            <a:off x="448056" y="506637"/>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Produire de la nourriture en autonomie</a:t>
            </a:r>
            <a:endParaRPr sz="2800"/>
          </a:p>
        </p:txBody>
      </p:sp>
      <p:sp>
        <p:nvSpPr>
          <p:cNvPr id="5" name="Text 2">
            <a:extLst>
              <a:ext uri="{FF2B5EF4-FFF2-40B4-BE49-F238E27FC236}">
                <a16:creationId xmlns:a16="http://schemas.microsoft.com/office/drawing/2014/main" id="{82FD1CD6-E054-4F2C-BBCB-8E4EE8B698E2}"/>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2 / 12</a:t>
            </a:r>
            <a:endParaRPr sz="900"/>
          </a:p>
        </p:txBody>
      </p:sp>
      <p:sp>
        <p:nvSpPr>
          <p:cNvPr id="6" name="Shape 3">
            <a:extLst>
              <a:ext uri="{FF2B5EF4-FFF2-40B4-BE49-F238E27FC236}">
                <a16:creationId xmlns:a16="http://schemas.microsoft.com/office/drawing/2014/main" id="{16E34BC7-15EC-40C6-85D3-544F02EE1914}"/>
              </a:ext>
            </a:extLst>
          </p:cNvPr>
          <p:cNvSpPr>
            <a:spLocks noGrp="1"/>
          </p:cNvSpPr>
          <p:nvPr/>
        </p:nvSpPr>
        <p:spPr>
          <a:xfrm>
            <a:off x="457200" y="1325880"/>
            <a:ext cx="2606040" cy="2514600"/>
          </a:xfrm>
          <a:prstGeom prst="roundRect">
            <a:avLst>
              <a:gd name="adj" fmla="val 2909"/>
            </a:avLst>
          </a:prstGeom>
          <a:noFill/>
          <a:ln w="0">
            <a:noFill/>
          </a:ln>
        </p:spPr>
        <p:txBody>
          <a:bodyPr/>
          <a:lstStyle/>
          <a:p>
            <a:endParaRPr lang="fr-FR"/>
          </a:p>
        </p:txBody>
      </p:sp>
      <p:sp>
        <p:nvSpPr>
          <p:cNvPr id="7" name="Text 4">
            <a:extLst>
              <a:ext uri="{FF2B5EF4-FFF2-40B4-BE49-F238E27FC236}">
                <a16:creationId xmlns:a16="http://schemas.microsoft.com/office/drawing/2014/main" id="{4B0A09B8-6614-4258-8394-341ACA0CB04E}"/>
              </a:ext>
            </a:extLst>
          </p:cNvPr>
          <p:cNvSpPr>
            <a:spLocks noGrp="1"/>
          </p:cNvSpPr>
          <p:nvPr/>
        </p:nvSpPr>
        <p:spPr>
          <a:xfrm>
            <a:off x="685800" y="1554480"/>
            <a:ext cx="2194560" cy="777240"/>
          </a:xfrm>
          <a:prstGeom prst="rect">
            <a:avLst/>
          </a:prstGeom>
          <a:noFill/>
        </p:spPr>
        <p:txBody>
          <a:bodyPr wrap="square" lIns="0" tIns="0" rIns="0" bIns="0" anchor="t"/>
          <a:lstStyle/>
          <a:p>
            <a:pPr marL="0" indent="0">
              <a:buNone/>
            </a:pPr>
            <a:r>
              <a:rPr sz="4400" b="1">
                <a:solidFill>
                  <a:srgbClr val="006B45"/>
                </a:solidFill>
                <a:latin typeface="Arial"/>
                <a:ea typeface="Arial"/>
                <a:cs typeface="Arial"/>
              </a:rPr>
              <a:t>0</a:t>
            </a:r>
            <a:endParaRPr sz="4400"/>
          </a:p>
        </p:txBody>
      </p:sp>
      <p:sp>
        <p:nvSpPr>
          <p:cNvPr id="8" name="Text 5">
            <a:extLst>
              <a:ext uri="{FF2B5EF4-FFF2-40B4-BE49-F238E27FC236}">
                <a16:creationId xmlns:a16="http://schemas.microsoft.com/office/drawing/2014/main" id="{08DA4410-A02D-4E8C-8E8B-1C58906F0D49}"/>
              </a:ext>
            </a:extLst>
          </p:cNvPr>
          <p:cNvSpPr>
            <a:spLocks noGrp="1"/>
          </p:cNvSpPr>
          <p:nvPr/>
        </p:nvSpPr>
        <p:spPr>
          <a:xfrm>
            <a:off x="685800" y="2377440"/>
            <a:ext cx="2194560" cy="320040"/>
          </a:xfrm>
          <a:prstGeom prst="rect">
            <a:avLst/>
          </a:prstGeom>
          <a:noFill/>
        </p:spPr>
        <p:txBody>
          <a:bodyPr wrap="square" lIns="0" tIns="0" rIns="0" bIns="0" anchor="t"/>
          <a:lstStyle/>
          <a:p>
            <a:pPr marL="0" indent="0">
              <a:buNone/>
            </a:pPr>
            <a:r>
              <a:rPr sz="1400" b="1" dirty="0" err="1">
                <a:solidFill>
                  <a:srgbClr val="142820"/>
                </a:solidFill>
                <a:latin typeface="Calibri"/>
                <a:ea typeface="Calibri"/>
                <a:cs typeface="Calibri"/>
              </a:rPr>
              <a:t>ravitaillement</a:t>
            </a:r>
            <a:r>
              <a:rPr sz="1400" b="1" dirty="0">
                <a:solidFill>
                  <a:srgbClr val="142820"/>
                </a:solidFill>
                <a:latin typeface="Calibri"/>
                <a:ea typeface="Calibri"/>
                <a:cs typeface="Calibri"/>
              </a:rPr>
              <a:t> </a:t>
            </a:r>
            <a:r>
              <a:rPr sz="1400" b="1" dirty="0" err="1">
                <a:solidFill>
                  <a:srgbClr val="142820"/>
                </a:solidFill>
                <a:latin typeface="Calibri"/>
                <a:ea typeface="Calibri"/>
                <a:cs typeface="Calibri"/>
              </a:rPr>
              <a:t>prévu</a:t>
            </a:r>
            <a:endParaRPr sz="1400" dirty="0"/>
          </a:p>
        </p:txBody>
      </p:sp>
      <p:sp>
        <p:nvSpPr>
          <p:cNvPr id="9" name="Text 6">
            <a:extLst>
              <a:ext uri="{FF2B5EF4-FFF2-40B4-BE49-F238E27FC236}">
                <a16:creationId xmlns:a16="http://schemas.microsoft.com/office/drawing/2014/main" id="{106BE8DF-63BB-40C1-AC12-F34B73DD31AE}"/>
              </a:ext>
            </a:extLst>
          </p:cNvPr>
          <p:cNvSpPr>
            <a:spLocks noGrp="1"/>
          </p:cNvSpPr>
          <p:nvPr/>
        </p:nvSpPr>
        <p:spPr>
          <a:xfrm>
            <a:off x="685800" y="2788920"/>
            <a:ext cx="2194560" cy="82296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Le vaisseau produit sa nourriture pendant toute la mission.</a:t>
            </a:r>
            <a:endParaRPr sz="1200"/>
          </a:p>
        </p:txBody>
      </p:sp>
      <p:sp>
        <p:nvSpPr>
          <p:cNvPr id="10" name="Shape 7">
            <a:extLst>
              <a:ext uri="{FF2B5EF4-FFF2-40B4-BE49-F238E27FC236}">
                <a16:creationId xmlns:a16="http://schemas.microsoft.com/office/drawing/2014/main" id="{A7E52E46-113E-4AA4-A3AB-BEB0657A31C5}"/>
              </a:ext>
            </a:extLst>
          </p:cNvPr>
          <p:cNvSpPr>
            <a:spLocks noGrp="1"/>
          </p:cNvSpPr>
          <p:nvPr/>
        </p:nvSpPr>
        <p:spPr>
          <a:xfrm>
            <a:off x="3264408" y="1325880"/>
            <a:ext cx="2606040" cy="2514600"/>
          </a:xfrm>
          <a:prstGeom prst="roundRect">
            <a:avLst>
              <a:gd name="adj" fmla="val 2909"/>
            </a:avLst>
          </a:prstGeom>
          <a:noFill/>
          <a:ln w="0">
            <a:noFill/>
          </a:ln>
        </p:spPr>
        <p:txBody>
          <a:bodyPr/>
          <a:lstStyle/>
          <a:p>
            <a:endParaRPr lang="fr-FR"/>
          </a:p>
        </p:txBody>
      </p:sp>
      <p:sp>
        <p:nvSpPr>
          <p:cNvPr id="11" name="Text 8">
            <a:extLst>
              <a:ext uri="{FF2B5EF4-FFF2-40B4-BE49-F238E27FC236}">
                <a16:creationId xmlns:a16="http://schemas.microsoft.com/office/drawing/2014/main" id="{8309AD72-D4CD-4779-92E6-E0D8AA077067}"/>
              </a:ext>
            </a:extLst>
          </p:cNvPr>
          <p:cNvSpPr>
            <a:spLocks noGrp="1"/>
          </p:cNvSpPr>
          <p:nvPr/>
        </p:nvSpPr>
        <p:spPr>
          <a:xfrm>
            <a:off x="3493008" y="1554480"/>
            <a:ext cx="2194560" cy="777240"/>
          </a:xfrm>
          <a:prstGeom prst="rect">
            <a:avLst/>
          </a:prstGeom>
          <a:noFill/>
        </p:spPr>
        <p:txBody>
          <a:bodyPr wrap="square" lIns="0" tIns="0" rIns="0" bIns="0" anchor="t"/>
          <a:lstStyle/>
          <a:p>
            <a:pPr marL="0" indent="0">
              <a:buNone/>
            </a:pPr>
            <a:r>
              <a:rPr sz="4400" b="1">
                <a:solidFill>
                  <a:srgbClr val="006B45"/>
                </a:solidFill>
                <a:latin typeface="Arial"/>
                <a:ea typeface="Arial"/>
                <a:cs typeface="Arial"/>
              </a:rPr>
              <a:t>24 h/24</a:t>
            </a:r>
            <a:endParaRPr sz="4400"/>
          </a:p>
        </p:txBody>
      </p:sp>
      <p:sp>
        <p:nvSpPr>
          <p:cNvPr id="12" name="Text 9">
            <a:extLst>
              <a:ext uri="{FF2B5EF4-FFF2-40B4-BE49-F238E27FC236}">
                <a16:creationId xmlns:a16="http://schemas.microsoft.com/office/drawing/2014/main" id="{A30C68ED-F5AC-4A41-836E-0B9428FD9DBF}"/>
              </a:ext>
            </a:extLst>
          </p:cNvPr>
          <p:cNvSpPr>
            <a:spLocks noGrp="1"/>
          </p:cNvSpPr>
          <p:nvPr/>
        </p:nvSpPr>
        <p:spPr>
          <a:xfrm>
            <a:off x="3493008" y="2377440"/>
            <a:ext cx="2194560" cy="320040"/>
          </a:xfrm>
          <a:prstGeom prst="rect">
            <a:avLst/>
          </a:prstGeom>
          <a:noFill/>
        </p:spPr>
        <p:txBody>
          <a:bodyPr wrap="square" lIns="0" tIns="0" rIns="0" bIns="0" anchor="t"/>
          <a:lstStyle/>
          <a:p>
            <a:pPr marL="0" indent="0">
              <a:buNone/>
            </a:pPr>
            <a:r>
              <a:rPr sz="1400" b="1">
                <a:solidFill>
                  <a:srgbClr val="142820"/>
                </a:solidFill>
                <a:latin typeface="Calibri"/>
                <a:ea typeface="Calibri"/>
                <a:cs typeface="Calibri"/>
              </a:rPr>
              <a:t>de surveillance</a:t>
            </a:r>
            <a:endParaRPr sz="1400"/>
          </a:p>
        </p:txBody>
      </p:sp>
      <p:sp>
        <p:nvSpPr>
          <p:cNvPr id="13" name="Text 10">
            <a:extLst>
              <a:ext uri="{FF2B5EF4-FFF2-40B4-BE49-F238E27FC236}">
                <a16:creationId xmlns:a16="http://schemas.microsoft.com/office/drawing/2014/main" id="{89555DE4-1FC7-4B81-95AA-63D57D6C423D}"/>
              </a:ext>
            </a:extLst>
          </p:cNvPr>
          <p:cNvSpPr>
            <a:spLocks noGrp="1"/>
          </p:cNvSpPr>
          <p:nvPr/>
        </p:nvSpPr>
        <p:spPr>
          <a:xfrm>
            <a:off x="3493008" y="2788920"/>
            <a:ext cx="2194560" cy="82296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Suivre l’eau, la lumière et la température en continu.</a:t>
            </a:r>
            <a:endParaRPr sz="1200"/>
          </a:p>
        </p:txBody>
      </p:sp>
      <p:sp>
        <p:nvSpPr>
          <p:cNvPr id="14" name="Shape 11">
            <a:extLst>
              <a:ext uri="{FF2B5EF4-FFF2-40B4-BE49-F238E27FC236}">
                <a16:creationId xmlns:a16="http://schemas.microsoft.com/office/drawing/2014/main" id="{21CB5BED-8985-41F6-8653-5CE4A7E3F317}"/>
              </a:ext>
            </a:extLst>
          </p:cNvPr>
          <p:cNvSpPr>
            <a:spLocks noGrp="1"/>
          </p:cNvSpPr>
          <p:nvPr/>
        </p:nvSpPr>
        <p:spPr>
          <a:xfrm>
            <a:off x="6071616" y="1325880"/>
            <a:ext cx="2606040" cy="2514600"/>
          </a:xfrm>
          <a:prstGeom prst="roundRect">
            <a:avLst>
              <a:gd name="adj" fmla="val 2909"/>
            </a:avLst>
          </a:prstGeom>
          <a:noFill/>
          <a:ln w="0">
            <a:noFill/>
          </a:ln>
        </p:spPr>
        <p:txBody>
          <a:bodyPr/>
          <a:lstStyle/>
          <a:p>
            <a:endParaRPr lang="fr-FR"/>
          </a:p>
        </p:txBody>
      </p:sp>
      <p:sp>
        <p:nvSpPr>
          <p:cNvPr id="15" name="Text 12">
            <a:extLst>
              <a:ext uri="{FF2B5EF4-FFF2-40B4-BE49-F238E27FC236}">
                <a16:creationId xmlns:a16="http://schemas.microsoft.com/office/drawing/2014/main" id="{E31EFA48-B4F7-43D8-87B8-41CA7FF1828C}"/>
              </a:ext>
            </a:extLst>
          </p:cNvPr>
          <p:cNvSpPr>
            <a:spLocks noGrp="1"/>
          </p:cNvSpPr>
          <p:nvPr/>
        </p:nvSpPr>
        <p:spPr>
          <a:xfrm>
            <a:off x="6300216" y="1554480"/>
            <a:ext cx="2194560" cy="777240"/>
          </a:xfrm>
          <a:prstGeom prst="rect">
            <a:avLst/>
          </a:prstGeom>
          <a:noFill/>
        </p:spPr>
        <p:txBody>
          <a:bodyPr wrap="square" lIns="0" tIns="0" rIns="0" bIns="0" anchor="t"/>
          <a:lstStyle/>
          <a:p>
            <a:pPr marL="0" indent="0">
              <a:buNone/>
            </a:pPr>
            <a:r>
              <a:rPr sz="4400" b="1">
                <a:solidFill>
                  <a:srgbClr val="955000"/>
                </a:solidFill>
                <a:latin typeface="Arial"/>
                <a:ea typeface="Arial"/>
                <a:cs typeface="Arial"/>
              </a:rPr>
              <a:t>40 %</a:t>
            </a:r>
            <a:endParaRPr sz="4400"/>
          </a:p>
        </p:txBody>
      </p:sp>
      <p:sp>
        <p:nvSpPr>
          <p:cNvPr id="16" name="Text 13">
            <a:extLst>
              <a:ext uri="{FF2B5EF4-FFF2-40B4-BE49-F238E27FC236}">
                <a16:creationId xmlns:a16="http://schemas.microsoft.com/office/drawing/2014/main" id="{BE1D8950-BEAA-44C0-B56C-EA9AC5F67271}"/>
              </a:ext>
            </a:extLst>
          </p:cNvPr>
          <p:cNvSpPr>
            <a:spLocks noGrp="1"/>
          </p:cNvSpPr>
          <p:nvPr/>
        </p:nvSpPr>
        <p:spPr>
          <a:xfrm>
            <a:off x="6300216" y="2377440"/>
            <a:ext cx="2194560" cy="320040"/>
          </a:xfrm>
          <a:prstGeom prst="rect">
            <a:avLst/>
          </a:prstGeom>
          <a:noFill/>
        </p:spPr>
        <p:txBody>
          <a:bodyPr wrap="square" lIns="0" tIns="0" rIns="0" bIns="0" anchor="t"/>
          <a:lstStyle/>
          <a:p>
            <a:pPr marL="0" indent="0">
              <a:buNone/>
            </a:pPr>
            <a:r>
              <a:rPr sz="1400" b="1">
                <a:solidFill>
                  <a:srgbClr val="142820"/>
                </a:solidFill>
                <a:latin typeface="Calibri"/>
                <a:ea typeface="Calibri"/>
                <a:cs typeface="Calibri"/>
              </a:rPr>
              <a:t>d’eau disponible en crise</a:t>
            </a:r>
            <a:endParaRPr sz="1400"/>
          </a:p>
        </p:txBody>
      </p:sp>
      <p:sp>
        <p:nvSpPr>
          <p:cNvPr id="17" name="Text 14">
            <a:extLst>
              <a:ext uri="{FF2B5EF4-FFF2-40B4-BE49-F238E27FC236}">
                <a16:creationId xmlns:a16="http://schemas.microsoft.com/office/drawing/2014/main" id="{CF846DAD-0BB1-4FC3-84D5-3DE2D26F4101}"/>
              </a:ext>
            </a:extLst>
          </p:cNvPr>
          <p:cNvSpPr>
            <a:spLocks noGrp="1"/>
          </p:cNvSpPr>
          <p:nvPr/>
        </p:nvSpPr>
        <p:spPr>
          <a:xfrm>
            <a:off x="6300216" y="2788920"/>
            <a:ext cx="2194560" cy="82296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Objectif du scénario : tenir 48 h avec une réserve réduite.</a:t>
            </a:r>
            <a:endParaRPr sz="1200"/>
          </a:p>
        </p:txBody>
      </p:sp>
      <p:sp>
        <p:nvSpPr>
          <p:cNvPr id="18" name="Text 15">
            <a:extLst>
              <a:ext uri="{FF2B5EF4-FFF2-40B4-BE49-F238E27FC236}">
                <a16:creationId xmlns:a16="http://schemas.microsoft.com/office/drawing/2014/main" id="{251707D5-379B-4192-B096-EC1D05BADF0F}"/>
              </a:ext>
            </a:extLst>
          </p:cNvPr>
          <p:cNvSpPr>
            <a:spLocks noGrp="1"/>
          </p:cNvSpPr>
          <p:nvPr/>
        </p:nvSpPr>
        <p:spPr>
          <a:xfrm>
            <a:off x="457200" y="4114800"/>
            <a:ext cx="8229600" cy="457200"/>
          </a:xfrm>
          <a:prstGeom prst="rect">
            <a:avLst/>
          </a:prstGeom>
          <a:noFill/>
        </p:spPr>
        <p:txBody>
          <a:bodyPr wrap="square" lIns="0" tIns="0" rIns="0" bIns="0" anchor="t"/>
          <a:lstStyle/>
          <a:p>
            <a:pPr marL="0" indent="0">
              <a:buNone/>
            </a:pPr>
            <a:r>
              <a:rPr sz="1500" i="1">
                <a:solidFill>
                  <a:srgbClr val="142820"/>
                </a:solidFill>
                <a:latin typeface="Calibri"/>
                <a:ea typeface="Calibri"/>
                <a:cs typeface="Calibri"/>
              </a:rPr>
              <a:t>Une panne non détectée peut compromettre les cultures et l’alimentation de l’équipage.</a:t>
            </a:r>
            <a:endParaRPr sz="1500"/>
          </a:p>
        </p:txBody>
      </p:sp>
    </p:spTree>
    <p:extLst>
      <p:ext uri="{BB962C8B-B14F-4D97-AF65-F5344CB8AC3E}">
        <p14:creationId xmlns:p14="http://schemas.microsoft.com/office/powerpoint/2010/main" val="1079909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737222B3-1C7D-4322-A5C7-BDA555A08823}"/>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NOTRE SOLUTION</a:t>
            </a:r>
            <a:endParaRPr sz="1000"/>
          </a:p>
        </p:txBody>
      </p:sp>
      <p:sp>
        <p:nvSpPr>
          <p:cNvPr id="4" name="Text 1">
            <a:extLst>
              <a:ext uri="{FF2B5EF4-FFF2-40B4-BE49-F238E27FC236}">
                <a16:creationId xmlns:a16="http://schemas.microsoft.com/office/drawing/2014/main" id="{3976101B-0B5B-43BD-966D-0F791314C0BC}"/>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Une serre surveillée en continu</a:t>
            </a:r>
            <a:endParaRPr sz="2800"/>
          </a:p>
        </p:txBody>
      </p:sp>
      <p:sp>
        <p:nvSpPr>
          <p:cNvPr id="5" name="Text 2">
            <a:extLst>
              <a:ext uri="{FF2B5EF4-FFF2-40B4-BE49-F238E27FC236}">
                <a16:creationId xmlns:a16="http://schemas.microsoft.com/office/drawing/2014/main" id="{76601B31-1000-4F82-9548-2FDBDA80EBD5}"/>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3 / 12</a:t>
            </a:r>
            <a:endParaRPr sz="900"/>
          </a:p>
        </p:txBody>
      </p:sp>
      <p:sp>
        <p:nvSpPr>
          <p:cNvPr id="6" name="Shape 3">
            <a:extLst>
              <a:ext uri="{FF2B5EF4-FFF2-40B4-BE49-F238E27FC236}">
                <a16:creationId xmlns:a16="http://schemas.microsoft.com/office/drawing/2014/main" id="{ED0C9732-A345-4FE7-B848-515BBA236006}"/>
              </a:ext>
            </a:extLst>
          </p:cNvPr>
          <p:cNvSpPr>
            <a:spLocks noGrp="1"/>
          </p:cNvSpPr>
          <p:nvPr/>
        </p:nvSpPr>
        <p:spPr>
          <a:xfrm>
            <a:off x="457200" y="1371600"/>
            <a:ext cx="1874520" cy="2468880"/>
          </a:xfrm>
          <a:prstGeom prst="roundRect">
            <a:avLst>
              <a:gd name="adj" fmla="val 3902"/>
            </a:avLst>
          </a:prstGeom>
          <a:noFill/>
          <a:ln w="0">
            <a:noFill/>
          </a:ln>
        </p:spPr>
        <p:txBody>
          <a:bodyPr/>
          <a:lstStyle/>
          <a:p>
            <a:endParaRPr lang="fr-FR"/>
          </a:p>
        </p:txBody>
      </p:sp>
      <p:sp>
        <p:nvSpPr>
          <p:cNvPr id="7" name="Shape 4">
            <a:extLst>
              <a:ext uri="{FF2B5EF4-FFF2-40B4-BE49-F238E27FC236}">
                <a16:creationId xmlns:a16="http://schemas.microsoft.com/office/drawing/2014/main" id="{670E6D01-BA3D-406E-8A31-68F7B7DFDC98}"/>
              </a:ext>
            </a:extLst>
          </p:cNvPr>
          <p:cNvSpPr>
            <a:spLocks noGrp="1"/>
          </p:cNvSpPr>
          <p:nvPr/>
        </p:nvSpPr>
        <p:spPr>
          <a:xfrm>
            <a:off x="640080" y="1572768"/>
            <a:ext cx="548640" cy="548640"/>
          </a:xfrm>
          <a:prstGeom prst="ellipse">
            <a:avLst/>
          </a:prstGeom>
          <a:solidFill>
            <a:srgbClr val="E7F3EB"/>
          </a:solidFill>
          <a:ln w="15875">
            <a:solidFill>
              <a:srgbClr val="006B45"/>
            </a:solidFill>
            <a:prstDash val="solid"/>
          </a:ln>
        </p:spPr>
        <p:txBody>
          <a:bodyPr/>
          <a:lstStyle/>
          <a:p>
            <a:endParaRPr lang="fr-FR"/>
          </a:p>
        </p:txBody>
      </p:sp>
      <p:sp>
        <p:nvSpPr>
          <p:cNvPr id="8" name="Text 5">
            <a:extLst>
              <a:ext uri="{FF2B5EF4-FFF2-40B4-BE49-F238E27FC236}">
                <a16:creationId xmlns:a16="http://schemas.microsoft.com/office/drawing/2014/main" id="{E2E260A8-DBE1-4E49-9692-C33F4518B2C2}"/>
              </a:ext>
            </a:extLst>
          </p:cNvPr>
          <p:cNvSpPr>
            <a:spLocks noGrp="1"/>
          </p:cNvSpPr>
          <p:nvPr/>
        </p:nvSpPr>
        <p:spPr>
          <a:xfrm>
            <a:off x="640080" y="1572768"/>
            <a:ext cx="548640" cy="548640"/>
          </a:xfrm>
          <a:prstGeom prst="rect">
            <a:avLst/>
          </a:prstGeom>
          <a:noFill/>
        </p:spPr>
        <p:txBody>
          <a:bodyPr wrap="square" lIns="0" tIns="0" rIns="0" bIns="0" anchor="ctr"/>
          <a:lstStyle/>
          <a:p>
            <a:pPr marL="0" indent="0" algn="ctr">
              <a:buNone/>
            </a:pPr>
            <a:r>
              <a:rPr sz="1320" b="1">
                <a:solidFill>
                  <a:srgbClr val="006B45"/>
                </a:solidFill>
                <a:latin typeface="Arial"/>
                <a:ea typeface="Arial"/>
                <a:cs typeface="Arial"/>
              </a:rPr>
              <a:t>1</a:t>
            </a:r>
            <a:endParaRPr sz="1320"/>
          </a:p>
        </p:txBody>
      </p:sp>
      <p:sp>
        <p:nvSpPr>
          <p:cNvPr id="9" name="Text 6">
            <a:extLst>
              <a:ext uri="{FF2B5EF4-FFF2-40B4-BE49-F238E27FC236}">
                <a16:creationId xmlns:a16="http://schemas.microsoft.com/office/drawing/2014/main" id="{A9DCFFAA-4D64-4952-B1AE-640F8D63339B}"/>
              </a:ext>
            </a:extLst>
          </p:cNvPr>
          <p:cNvSpPr>
            <a:spLocks noGrp="1"/>
          </p:cNvSpPr>
          <p:nvPr/>
        </p:nvSpPr>
        <p:spPr>
          <a:xfrm>
            <a:off x="640080" y="2258568"/>
            <a:ext cx="1554480" cy="365760"/>
          </a:xfrm>
          <a:prstGeom prst="rect">
            <a:avLst/>
          </a:prstGeom>
          <a:noFill/>
        </p:spPr>
        <p:txBody>
          <a:bodyPr wrap="square" lIns="0" tIns="0" rIns="0" bIns="0" anchor="t"/>
          <a:lstStyle/>
          <a:p>
            <a:pPr marL="0" indent="0">
              <a:buNone/>
            </a:pPr>
            <a:r>
              <a:rPr sz="1800" b="1">
                <a:solidFill>
                  <a:srgbClr val="142820"/>
                </a:solidFill>
                <a:latin typeface="Arial"/>
                <a:ea typeface="Arial"/>
                <a:cs typeface="Arial"/>
              </a:rPr>
              <a:t>Mesurer</a:t>
            </a:r>
            <a:endParaRPr sz="1800"/>
          </a:p>
        </p:txBody>
      </p:sp>
      <p:sp>
        <p:nvSpPr>
          <p:cNvPr id="10" name="Text 7">
            <a:extLst>
              <a:ext uri="{FF2B5EF4-FFF2-40B4-BE49-F238E27FC236}">
                <a16:creationId xmlns:a16="http://schemas.microsoft.com/office/drawing/2014/main" id="{9C8CAC05-0EEA-42EF-81D6-659BAB6E0D7A}"/>
              </a:ext>
            </a:extLst>
          </p:cNvPr>
          <p:cNvSpPr>
            <a:spLocks noGrp="1"/>
          </p:cNvSpPr>
          <p:nvPr/>
        </p:nvSpPr>
        <p:spPr>
          <a:xfrm>
            <a:off x="640080" y="2670048"/>
            <a:ext cx="1554480" cy="109728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Température, humidité, luminosité et niveau d’eau.</a:t>
            </a:r>
            <a:endParaRPr sz="1200"/>
          </a:p>
        </p:txBody>
      </p:sp>
      <p:sp>
        <p:nvSpPr>
          <p:cNvPr id="11" name="Shape 8">
            <a:extLst>
              <a:ext uri="{FF2B5EF4-FFF2-40B4-BE49-F238E27FC236}">
                <a16:creationId xmlns:a16="http://schemas.microsoft.com/office/drawing/2014/main" id="{38F6E2FC-A315-422B-92E3-CC3EF1F41900}"/>
              </a:ext>
            </a:extLst>
          </p:cNvPr>
          <p:cNvSpPr>
            <a:spLocks noGrp="1"/>
          </p:cNvSpPr>
          <p:nvPr/>
        </p:nvSpPr>
        <p:spPr>
          <a:xfrm>
            <a:off x="2350008" y="2606040"/>
            <a:ext cx="192024" cy="0"/>
          </a:xfrm>
          <a:prstGeom prst="line">
            <a:avLst/>
          </a:prstGeom>
          <a:noFill/>
          <a:ln w="22225">
            <a:solidFill>
              <a:srgbClr val="006B45"/>
            </a:solidFill>
            <a:prstDash val="solid"/>
            <a:tailEnd type="triangle"/>
          </a:ln>
        </p:spPr>
        <p:txBody>
          <a:bodyPr/>
          <a:lstStyle/>
          <a:p>
            <a:endParaRPr lang="fr-FR"/>
          </a:p>
        </p:txBody>
      </p:sp>
      <p:sp>
        <p:nvSpPr>
          <p:cNvPr id="12" name="Shape 9">
            <a:extLst>
              <a:ext uri="{FF2B5EF4-FFF2-40B4-BE49-F238E27FC236}">
                <a16:creationId xmlns:a16="http://schemas.microsoft.com/office/drawing/2014/main" id="{1153151C-CA65-4DF5-AEDD-60EB1E5D2CA7}"/>
              </a:ext>
            </a:extLst>
          </p:cNvPr>
          <p:cNvSpPr>
            <a:spLocks noGrp="1"/>
          </p:cNvSpPr>
          <p:nvPr/>
        </p:nvSpPr>
        <p:spPr>
          <a:xfrm>
            <a:off x="2560320" y="1371600"/>
            <a:ext cx="1874520" cy="2468880"/>
          </a:xfrm>
          <a:prstGeom prst="roundRect">
            <a:avLst>
              <a:gd name="adj" fmla="val 3902"/>
            </a:avLst>
          </a:prstGeom>
          <a:noFill/>
          <a:ln w="0">
            <a:noFill/>
          </a:ln>
        </p:spPr>
        <p:txBody>
          <a:bodyPr/>
          <a:lstStyle/>
          <a:p>
            <a:endParaRPr lang="fr-FR"/>
          </a:p>
        </p:txBody>
      </p:sp>
      <p:sp>
        <p:nvSpPr>
          <p:cNvPr id="13" name="Shape 10">
            <a:extLst>
              <a:ext uri="{FF2B5EF4-FFF2-40B4-BE49-F238E27FC236}">
                <a16:creationId xmlns:a16="http://schemas.microsoft.com/office/drawing/2014/main" id="{76BE70F2-6BC2-489F-8BCE-E1AC9C69AB20}"/>
              </a:ext>
            </a:extLst>
          </p:cNvPr>
          <p:cNvSpPr>
            <a:spLocks noGrp="1"/>
          </p:cNvSpPr>
          <p:nvPr/>
        </p:nvSpPr>
        <p:spPr>
          <a:xfrm>
            <a:off x="2743200" y="1572768"/>
            <a:ext cx="548640" cy="548640"/>
          </a:xfrm>
          <a:prstGeom prst="ellipse">
            <a:avLst/>
          </a:prstGeom>
          <a:solidFill>
            <a:srgbClr val="E7F3EB"/>
          </a:solidFill>
          <a:ln w="15875">
            <a:solidFill>
              <a:srgbClr val="006B45"/>
            </a:solidFill>
            <a:prstDash val="solid"/>
          </a:ln>
        </p:spPr>
        <p:txBody>
          <a:bodyPr/>
          <a:lstStyle/>
          <a:p>
            <a:endParaRPr lang="fr-FR"/>
          </a:p>
        </p:txBody>
      </p:sp>
      <p:sp>
        <p:nvSpPr>
          <p:cNvPr id="14" name="Text 11">
            <a:extLst>
              <a:ext uri="{FF2B5EF4-FFF2-40B4-BE49-F238E27FC236}">
                <a16:creationId xmlns:a16="http://schemas.microsoft.com/office/drawing/2014/main" id="{20149E8A-E0B6-4A6D-ABF0-66DD0E1E03A4}"/>
              </a:ext>
            </a:extLst>
          </p:cNvPr>
          <p:cNvSpPr>
            <a:spLocks noGrp="1"/>
          </p:cNvSpPr>
          <p:nvPr/>
        </p:nvSpPr>
        <p:spPr>
          <a:xfrm>
            <a:off x="2743200" y="1572768"/>
            <a:ext cx="548640" cy="548640"/>
          </a:xfrm>
          <a:prstGeom prst="rect">
            <a:avLst/>
          </a:prstGeom>
          <a:noFill/>
        </p:spPr>
        <p:txBody>
          <a:bodyPr wrap="square" lIns="0" tIns="0" rIns="0" bIns="0" anchor="ctr"/>
          <a:lstStyle/>
          <a:p>
            <a:pPr marL="0" indent="0" algn="ctr">
              <a:buNone/>
            </a:pPr>
            <a:r>
              <a:rPr sz="1320" b="1">
                <a:solidFill>
                  <a:srgbClr val="006B45"/>
                </a:solidFill>
                <a:latin typeface="Arial"/>
                <a:ea typeface="Arial"/>
                <a:cs typeface="Arial"/>
              </a:rPr>
              <a:t>2</a:t>
            </a:r>
            <a:endParaRPr sz="1320"/>
          </a:p>
        </p:txBody>
      </p:sp>
      <p:sp>
        <p:nvSpPr>
          <p:cNvPr id="15" name="Text 12">
            <a:extLst>
              <a:ext uri="{FF2B5EF4-FFF2-40B4-BE49-F238E27FC236}">
                <a16:creationId xmlns:a16="http://schemas.microsoft.com/office/drawing/2014/main" id="{62CE11EB-0AAD-4660-8E64-0182F08EA46E}"/>
              </a:ext>
            </a:extLst>
          </p:cNvPr>
          <p:cNvSpPr>
            <a:spLocks noGrp="1"/>
          </p:cNvSpPr>
          <p:nvPr/>
        </p:nvSpPr>
        <p:spPr>
          <a:xfrm>
            <a:off x="2743200" y="2258568"/>
            <a:ext cx="1554480" cy="365760"/>
          </a:xfrm>
          <a:prstGeom prst="rect">
            <a:avLst/>
          </a:prstGeom>
          <a:noFill/>
        </p:spPr>
        <p:txBody>
          <a:bodyPr wrap="square" lIns="0" tIns="0" rIns="0" bIns="0" anchor="t"/>
          <a:lstStyle/>
          <a:p>
            <a:pPr marL="0" indent="0">
              <a:buNone/>
            </a:pPr>
            <a:r>
              <a:rPr sz="1800" b="1">
                <a:solidFill>
                  <a:srgbClr val="142820"/>
                </a:solidFill>
                <a:latin typeface="Arial"/>
                <a:ea typeface="Arial"/>
                <a:cs typeface="Arial"/>
              </a:rPr>
              <a:t>Enregistrer</a:t>
            </a:r>
            <a:endParaRPr sz="1800"/>
          </a:p>
        </p:txBody>
      </p:sp>
      <p:sp>
        <p:nvSpPr>
          <p:cNvPr id="16" name="Text 13">
            <a:extLst>
              <a:ext uri="{FF2B5EF4-FFF2-40B4-BE49-F238E27FC236}">
                <a16:creationId xmlns:a16="http://schemas.microsoft.com/office/drawing/2014/main" id="{890AD164-4717-4A14-AE45-D04A5F279D5D}"/>
              </a:ext>
            </a:extLst>
          </p:cNvPr>
          <p:cNvSpPr>
            <a:spLocks noGrp="1"/>
          </p:cNvSpPr>
          <p:nvPr/>
        </p:nvSpPr>
        <p:spPr>
          <a:xfrm>
            <a:off x="2743200" y="2670048"/>
            <a:ext cx="1554480" cy="109728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Le Raspberry Pi conserve les mesures dans SQLite.</a:t>
            </a:r>
            <a:endParaRPr sz="1200"/>
          </a:p>
        </p:txBody>
      </p:sp>
      <p:sp>
        <p:nvSpPr>
          <p:cNvPr id="17" name="Shape 14">
            <a:extLst>
              <a:ext uri="{FF2B5EF4-FFF2-40B4-BE49-F238E27FC236}">
                <a16:creationId xmlns:a16="http://schemas.microsoft.com/office/drawing/2014/main" id="{AB869725-814F-47A1-875D-D45A070E26F4}"/>
              </a:ext>
            </a:extLst>
          </p:cNvPr>
          <p:cNvSpPr>
            <a:spLocks noGrp="1"/>
          </p:cNvSpPr>
          <p:nvPr/>
        </p:nvSpPr>
        <p:spPr>
          <a:xfrm>
            <a:off x="4453128" y="2606040"/>
            <a:ext cx="192024" cy="0"/>
          </a:xfrm>
          <a:prstGeom prst="line">
            <a:avLst/>
          </a:prstGeom>
          <a:noFill/>
          <a:ln w="22225">
            <a:solidFill>
              <a:srgbClr val="006B45"/>
            </a:solidFill>
            <a:prstDash val="solid"/>
            <a:tailEnd type="triangle"/>
          </a:ln>
        </p:spPr>
        <p:txBody>
          <a:bodyPr/>
          <a:lstStyle/>
          <a:p>
            <a:endParaRPr lang="fr-FR"/>
          </a:p>
        </p:txBody>
      </p:sp>
      <p:sp>
        <p:nvSpPr>
          <p:cNvPr id="18" name="Shape 15">
            <a:extLst>
              <a:ext uri="{FF2B5EF4-FFF2-40B4-BE49-F238E27FC236}">
                <a16:creationId xmlns:a16="http://schemas.microsoft.com/office/drawing/2014/main" id="{0288B470-3A8E-4F2F-8E59-AE58E275BA53}"/>
              </a:ext>
            </a:extLst>
          </p:cNvPr>
          <p:cNvSpPr>
            <a:spLocks noGrp="1"/>
          </p:cNvSpPr>
          <p:nvPr/>
        </p:nvSpPr>
        <p:spPr>
          <a:xfrm>
            <a:off x="4663440" y="1371600"/>
            <a:ext cx="1874520" cy="2468880"/>
          </a:xfrm>
          <a:prstGeom prst="roundRect">
            <a:avLst>
              <a:gd name="adj" fmla="val 3902"/>
            </a:avLst>
          </a:prstGeom>
          <a:noFill/>
          <a:ln w="0">
            <a:noFill/>
          </a:ln>
        </p:spPr>
        <p:txBody>
          <a:bodyPr/>
          <a:lstStyle/>
          <a:p>
            <a:endParaRPr lang="fr-FR"/>
          </a:p>
        </p:txBody>
      </p:sp>
      <p:sp>
        <p:nvSpPr>
          <p:cNvPr id="19" name="Shape 16">
            <a:extLst>
              <a:ext uri="{FF2B5EF4-FFF2-40B4-BE49-F238E27FC236}">
                <a16:creationId xmlns:a16="http://schemas.microsoft.com/office/drawing/2014/main" id="{823DDDDF-B683-45F6-971D-9EEE8BC043BB}"/>
              </a:ext>
            </a:extLst>
          </p:cNvPr>
          <p:cNvSpPr>
            <a:spLocks noGrp="1"/>
          </p:cNvSpPr>
          <p:nvPr/>
        </p:nvSpPr>
        <p:spPr>
          <a:xfrm>
            <a:off x="4846320" y="1572768"/>
            <a:ext cx="548640" cy="548640"/>
          </a:xfrm>
          <a:prstGeom prst="ellipse">
            <a:avLst/>
          </a:prstGeom>
          <a:solidFill>
            <a:srgbClr val="E7F3EB"/>
          </a:solidFill>
          <a:ln w="15875">
            <a:solidFill>
              <a:srgbClr val="006B45"/>
            </a:solidFill>
            <a:prstDash val="solid"/>
          </a:ln>
        </p:spPr>
        <p:txBody>
          <a:bodyPr/>
          <a:lstStyle/>
          <a:p>
            <a:endParaRPr lang="fr-FR"/>
          </a:p>
        </p:txBody>
      </p:sp>
      <p:sp>
        <p:nvSpPr>
          <p:cNvPr id="20" name="Text 17">
            <a:extLst>
              <a:ext uri="{FF2B5EF4-FFF2-40B4-BE49-F238E27FC236}">
                <a16:creationId xmlns:a16="http://schemas.microsoft.com/office/drawing/2014/main" id="{D122FBAC-F287-4063-B9E5-AA3E90272383}"/>
              </a:ext>
            </a:extLst>
          </p:cNvPr>
          <p:cNvSpPr>
            <a:spLocks noGrp="1"/>
          </p:cNvSpPr>
          <p:nvPr/>
        </p:nvSpPr>
        <p:spPr>
          <a:xfrm>
            <a:off x="4846320" y="1572768"/>
            <a:ext cx="548640" cy="548640"/>
          </a:xfrm>
          <a:prstGeom prst="rect">
            <a:avLst/>
          </a:prstGeom>
          <a:noFill/>
        </p:spPr>
        <p:txBody>
          <a:bodyPr wrap="square" lIns="0" tIns="0" rIns="0" bIns="0" anchor="ctr"/>
          <a:lstStyle/>
          <a:p>
            <a:pPr marL="0" indent="0" algn="ctr">
              <a:buNone/>
            </a:pPr>
            <a:r>
              <a:rPr sz="1320" b="1">
                <a:solidFill>
                  <a:srgbClr val="006B45"/>
                </a:solidFill>
                <a:latin typeface="Arial"/>
                <a:ea typeface="Arial"/>
                <a:cs typeface="Arial"/>
              </a:rPr>
              <a:t>3</a:t>
            </a:r>
            <a:endParaRPr sz="1320"/>
          </a:p>
        </p:txBody>
      </p:sp>
      <p:sp>
        <p:nvSpPr>
          <p:cNvPr id="21" name="Text 18">
            <a:extLst>
              <a:ext uri="{FF2B5EF4-FFF2-40B4-BE49-F238E27FC236}">
                <a16:creationId xmlns:a16="http://schemas.microsoft.com/office/drawing/2014/main" id="{F5C79C67-C980-4B03-BBB8-0DC100877E40}"/>
              </a:ext>
            </a:extLst>
          </p:cNvPr>
          <p:cNvSpPr>
            <a:spLocks noGrp="1"/>
          </p:cNvSpPr>
          <p:nvPr/>
        </p:nvSpPr>
        <p:spPr>
          <a:xfrm>
            <a:off x="4846320" y="2258568"/>
            <a:ext cx="1554480" cy="365760"/>
          </a:xfrm>
          <a:prstGeom prst="rect">
            <a:avLst/>
          </a:prstGeom>
          <a:noFill/>
        </p:spPr>
        <p:txBody>
          <a:bodyPr wrap="square" lIns="0" tIns="0" rIns="0" bIns="0" anchor="t"/>
          <a:lstStyle/>
          <a:p>
            <a:pPr marL="0" indent="0">
              <a:buNone/>
            </a:pPr>
            <a:r>
              <a:rPr sz="1800" b="1">
                <a:solidFill>
                  <a:srgbClr val="142820"/>
                </a:solidFill>
                <a:latin typeface="Arial"/>
                <a:ea typeface="Arial"/>
                <a:cs typeface="Arial"/>
              </a:rPr>
              <a:t>Afficher</a:t>
            </a:r>
            <a:endParaRPr sz="1800"/>
          </a:p>
        </p:txBody>
      </p:sp>
      <p:sp>
        <p:nvSpPr>
          <p:cNvPr id="22" name="Text 19">
            <a:extLst>
              <a:ext uri="{FF2B5EF4-FFF2-40B4-BE49-F238E27FC236}">
                <a16:creationId xmlns:a16="http://schemas.microsoft.com/office/drawing/2014/main" id="{B88B0DBF-6FD8-4024-874F-D664FF536F80}"/>
              </a:ext>
            </a:extLst>
          </p:cNvPr>
          <p:cNvSpPr>
            <a:spLocks noGrp="1"/>
          </p:cNvSpPr>
          <p:nvPr/>
        </p:nvSpPr>
        <p:spPr>
          <a:xfrm>
            <a:off x="4846320" y="2670048"/>
            <a:ext cx="1554480" cy="109728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Le tableau de bord affiche mesures, courbes et alertes.</a:t>
            </a:r>
            <a:endParaRPr sz="1200"/>
          </a:p>
        </p:txBody>
      </p:sp>
      <p:sp>
        <p:nvSpPr>
          <p:cNvPr id="23" name="Shape 20">
            <a:extLst>
              <a:ext uri="{FF2B5EF4-FFF2-40B4-BE49-F238E27FC236}">
                <a16:creationId xmlns:a16="http://schemas.microsoft.com/office/drawing/2014/main" id="{E3400BA4-A9A1-4383-AA2D-DBA0FB5475AC}"/>
              </a:ext>
            </a:extLst>
          </p:cNvPr>
          <p:cNvSpPr>
            <a:spLocks noGrp="1"/>
          </p:cNvSpPr>
          <p:nvPr/>
        </p:nvSpPr>
        <p:spPr>
          <a:xfrm>
            <a:off x="6556248" y="2606040"/>
            <a:ext cx="192024" cy="0"/>
          </a:xfrm>
          <a:prstGeom prst="line">
            <a:avLst/>
          </a:prstGeom>
          <a:noFill/>
          <a:ln w="22225">
            <a:solidFill>
              <a:srgbClr val="006B45"/>
            </a:solidFill>
            <a:prstDash val="solid"/>
            <a:tailEnd type="triangle"/>
          </a:ln>
        </p:spPr>
        <p:txBody>
          <a:bodyPr/>
          <a:lstStyle/>
          <a:p>
            <a:endParaRPr lang="fr-FR"/>
          </a:p>
        </p:txBody>
      </p:sp>
      <p:sp>
        <p:nvSpPr>
          <p:cNvPr id="24" name="Shape 21">
            <a:extLst>
              <a:ext uri="{FF2B5EF4-FFF2-40B4-BE49-F238E27FC236}">
                <a16:creationId xmlns:a16="http://schemas.microsoft.com/office/drawing/2014/main" id="{ADC2C7C6-3BCC-40F0-8888-981AAFF1213D}"/>
              </a:ext>
            </a:extLst>
          </p:cNvPr>
          <p:cNvSpPr>
            <a:spLocks noGrp="1"/>
          </p:cNvSpPr>
          <p:nvPr/>
        </p:nvSpPr>
        <p:spPr>
          <a:xfrm>
            <a:off x="6766560" y="1371600"/>
            <a:ext cx="1874520" cy="2468880"/>
          </a:xfrm>
          <a:prstGeom prst="roundRect">
            <a:avLst>
              <a:gd name="adj" fmla="val 3902"/>
            </a:avLst>
          </a:prstGeom>
          <a:noFill/>
          <a:ln w="0">
            <a:noFill/>
          </a:ln>
        </p:spPr>
        <p:txBody>
          <a:bodyPr/>
          <a:lstStyle/>
          <a:p>
            <a:endParaRPr lang="fr-FR"/>
          </a:p>
        </p:txBody>
      </p:sp>
      <p:sp>
        <p:nvSpPr>
          <p:cNvPr id="25" name="Shape 22">
            <a:extLst>
              <a:ext uri="{FF2B5EF4-FFF2-40B4-BE49-F238E27FC236}">
                <a16:creationId xmlns:a16="http://schemas.microsoft.com/office/drawing/2014/main" id="{3577521F-59F6-4904-96AC-C34205986603}"/>
              </a:ext>
            </a:extLst>
          </p:cNvPr>
          <p:cNvSpPr>
            <a:spLocks noGrp="1"/>
          </p:cNvSpPr>
          <p:nvPr/>
        </p:nvSpPr>
        <p:spPr>
          <a:xfrm>
            <a:off x="6949440" y="1572768"/>
            <a:ext cx="548640" cy="548640"/>
          </a:xfrm>
          <a:prstGeom prst="ellipse">
            <a:avLst/>
          </a:prstGeom>
          <a:solidFill>
            <a:srgbClr val="E7F3EB"/>
          </a:solidFill>
          <a:ln w="15875">
            <a:solidFill>
              <a:srgbClr val="006B45"/>
            </a:solidFill>
            <a:prstDash val="solid"/>
          </a:ln>
        </p:spPr>
        <p:txBody>
          <a:bodyPr/>
          <a:lstStyle/>
          <a:p>
            <a:endParaRPr lang="fr-FR"/>
          </a:p>
        </p:txBody>
      </p:sp>
      <p:sp>
        <p:nvSpPr>
          <p:cNvPr id="26" name="Text 23">
            <a:extLst>
              <a:ext uri="{FF2B5EF4-FFF2-40B4-BE49-F238E27FC236}">
                <a16:creationId xmlns:a16="http://schemas.microsoft.com/office/drawing/2014/main" id="{8FB9872C-1780-4E5E-90D1-D92035624AEC}"/>
              </a:ext>
            </a:extLst>
          </p:cNvPr>
          <p:cNvSpPr>
            <a:spLocks noGrp="1"/>
          </p:cNvSpPr>
          <p:nvPr/>
        </p:nvSpPr>
        <p:spPr>
          <a:xfrm>
            <a:off x="6949440" y="1572768"/>
            <a:ext cx="548640" cy="548640"/>
          </a:xfrm>
          <a:prstGeom prst="rect">
            <a:avLst/>
          </a:prstGeom>
          <a:noFill/>
        </p:spPr>
        <p:txBody>
          <a:bodyPr wrap="square" lIns="0" tIns="0" rIns="0" bIns="0" anchor="ctr"/>
          <a:lstStyle/>
          <a:p>
            <a:pPr marL="0" indent="0" algn="ctr">
              <a:buNone/>
            </a:pPr>
            <a:r>
              <a:rPr sz="1320" b="1">
                <a:solidFill>
                  <a:srgbClr val="006B45"/>
                </a:solidFill>
                <a:latin typeface="Arial"/>
                <a:ea typeface="Arial"/>
                <a:cs typeface="Arial"/>
              </a:rPr>
              <a:t>4</a:t>
            </a:r>
            <a:endParaRPr sz="1320"/>
          </a:p>
        </p:txBody>
      </p:sp>
      <p:sp>
        <p:nvSpPr>
          <p:cNvPr id="27" name="Text 24">
            <a:extLst>
              <a:ext uri="{FF2B5EF4-FFF2-40B4-BE49-F238E27FC236}">
                <a16:creationId xmlns:a16="http://schemas.microsoft.com/office/drawing/2014/main" id="{ED2ED44E-E923-4FDE-B8A3-A69D1154D7E4}"/>
              </a:ext>
            </a:extLst>
          </p:cNvPr>
          <p:cNvSpPr>
            <a:spLocks noGrp="1"/>
          </p:cNvSpPr>
          <p:nvPr/>
        </p:nvSpPr>
        <p:spPr>
          <a:xfrm>
            <a:off x="6949440" y="2258568"/>
            <a:ext cx="1554480" cy="365760"/>
          </a:xfrm>
          <a:prstGeom prst="rect">
            <a:avLst/>
          </a:prstGeom>
          <a:noFill/>
        </p:spPr>
        <p:txBody>
          <a:bodyPr wrap="square" lIns="0" tIns="0" rIns="0" bIns="0" anchor="t"/>
          <a:lstStyle/>
          <a:p>
            <a:pPr marL="0" indent="0">
              <a:buNone/>
            </a:pPr>
            <a:r>
              <a:rPr sz="1800" b="1">
                <a:solidFill>
                  <a:srgbClr val="142820"/>
                </a:solidFill>
                <a:latin typeface="Arial"/>
                <a:ea typeface="Arial"/>
                <a:cs typeface="Arial"/>
              </a:rPr>
              <a:t>Agir</a:t>
            </a:r>
            <a:endParaRPr sz="1800"/>
          </a:p>
        </p:txBody>
      </p:sp>
      <p:sp>
        <p:nvSpPr>
          <p:cNvPr id="28" name="Text 25">
            <a:extLst>
              <a:ext uri="{FF2B5EF4-FFF2-40B4-BE49-F238E27FC236}">
                <a16:creationId xmlns:a16="http://schemas.microsoft.com/office/drawing/2014/main" id="{0A963F05-E774-4881-A388-4B58698A0599}"/>
              </a:ext>
            </a:extLst>
          </p:cNvPr>
          <p:cNvSpPr>
            <a:spLocks noGrp="1"/>
          </p:cNvSpPr>
          <p:nvPr/>
        </p:nvSpPr>
        <p:spPr>
          <a:xfrm>
            <a:off x="6949440" y="2670048"/>
            <a:ext cx="1554480" cy="1097280"/>
          </a:xfrm>
          <a:prstGeom prst="rect">
            <a:avLst/>
          </a:prstGeom>
          <a:noFill/>
        </p:spPr>
        <p:txBody>
          <a:bodyPr wrap="square" lIns="0" tIns="0" rIns="0" bIns="0" anchor="t"/>
          <a:lstStyle/>
          <a:p>
            <a:pPr marL="0" indent="0">
              <a:buNone/>
              <a:defRPr sz="1350">
                <a:solidFill>
                  <a:srgbClr val="233C32"/>
                </a:solidFill>
              </a:defRPr>
            </a:pPr>
            <a:r>
              <a:rPr sz="1350">
                <a:solidFill>
                  <a:srgbClr val="233C32"/>
                </a:solidFill>
                <a:latin typeface="Calibri"/>
                <a:ea typeface="Calibri"/>
                <a:cs typeface="Calibri"/>
              </a:rPr>
              <a:t>Le Pi commande la LED selon la luminosité mesurée.</a:t>
            </a:r>
            <a:endParaRPr sz="1200"/>
          </a:p>
        </p:txBody>
      </p:sp>
      <p:sp>
        <p:nvSpPr>
          <p:cNvPr id="29" name="Shape 26">
            <a:extLst>
              <a:ext uri="{FF2B5EF4-FFF2-40B4-BE49-F238E27FC236}">
                <a16:creationId xmlns:a16="http://schemas.microsoft.com/office/drawing/2014/main" id="{C1C8060D-FAF1-49E9-9C74-06D7F0C04319}"/>
              </a:ext>
            </a:extLst>
          </p:cNvPr>
          <p:cNvSpPr>
            <a:spLocks noGrp="1"/>
          </p:cNvSpPr>
          <p:nvPr/>
        </p:nvSpPr>
        <p:spPr>
          <a:xfrm>
            <a:off x="457200" y="4069080"/>
            <a:ext cx="8229600" cy="548640"/>
          </a:xfrm>
          <a:prstGeom prst="roundRect">
            <a:avLst>
              <a:gd name="adj" fmla="val 13333"/>
            </a:avLst>
          </a:prstGeom>
          <a:solidFill>
            <a:srgbClr val="FFF1CE"/>
          </a:solidFill>
          <a:ln w="9525">
            <a:solidFill>
              <a:srgbClr val="B9CEC0"/>
            </a:solidFill>
            <a:prstDash val="solid"/>
          </a:ln>
        </p:spPr>
        <p:txBody>
          <a:bodyPr/>
          <a:lstStyle/>
          <a:p>
            <a:endParaRPr lang="fr-FR"/>
          </a:p>
        </p:txBody>
      </p:sp>
      <p:sp>
        <p:nvSpPr>
          <p:cNvPr id="30" name="Text 27">
            <a:extLst>
              <a:ext uri="{FF2B5EF4-FFF2-40B4-BE49-F238E27FC236}">
                <a16:creationId xmlns:a16="http://schemas.microsoft.com/office/drawing/2014/main" id="{16102493-3F0D-4E22-82CD-DF9958576955}"/>
              </a:ext>
            </a:extLst>
          </p:cNvPr>
          <p:cNvSpPr>
            <a:spLocks noGrp="1"/>
          </p:cNvSpPr>
          <p:nvPr/>
        </p:nvSpPr>
        <p:spPr>
          <a:xfrm>
            <a:off x="685800" y="4069080"/>
            <a:ext cx="7863840" cy="548640"/>
          </a:xfrm>
          <a:prstGeom prst="rect">
            <a:avLst/>
          </a:prstGeom>
          <a:noFill/>
        </p:spPr>
        <p:txBody>
          <a:bodyPr wrap="square" lIns="0" tIns="0" rIns="0" bIns="0" anchor="ctr"/>
          <a:lstStyle/>
          <a:p>
            <a:pPr marL="0" indent="0">
              <a:buNone/>
            </a:pPr>
            <a:r>
              <a:rPr sz="1300" b="1">
                <a:solidFill>
                  <a:srgbClr val="955000"/>
                </a:solidFill>
                <a:latin typeface="Calibri"/>
                <a:ea typeface="Calibri"/>
                <a:cs typeface="Calibri"/>
              </a:rPr>
              <a:t>Survival Mode : simuler une pénurie d’eau pour prioriser les cultures.</a:t>
            </a:r>
            <a:endParaRPr sz="1300"/>
          </a:p>
        </p:txBody>
      </p:sp>
    </p:spTree>
    <p:extLst>
      <p:ext uri="{BB962C8B-B14F-4D97-AF65-F5344CB8AC3E}">
        <p14:creationId xmlns:p14="http://schemas.microsoft.com/office/powerpoint/2010/main" val="1792817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7415478-C94B-485A-BD86-220CCBE26123}"/>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ARCHITECTURE</a:t>
            </a:r>
            <a:endParaRPr sz="1000"/>
          </a:p>
        </p:txBody>
      </p:sp>
      <p:sp>
        <p:nvSpPr>
          <p:cNvPr id="4" name="Text 1">
            <a:extLst>
              <a:ext uri="{FF2B5EF4-FFF2-40B4-BE49-F238E27FC236}">
                <a16:creationId xmlns:a16="http://schemas.microsoft.com/office/drawing/2014/main" id="{96861956-196C-4236-A2B3-94CB4E30FE74}"/>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Une architecture entièrement locale</a:t>
            </a:r>
            <a:endParaRPr sz="2800"/>
          </a:p>
        </p:txBody>
      </p:sp>
      <p:sp>
        <p:nvSpPr>
          <p:cNvPr id="5" name="Text 2">
            <a:extLst>
              <a:ext uri="{FF2B5EF4-FFF2-40B4-BE49-F238E27FC236}">
                <a16:creationId xmlns:a16="http://schemas.microsoft.com/office/drawing/2014/main" id="{8C5410AF-5D83-46AD-BBE4-79CF809A6A76}"/>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4 / 12</a:t>
            </a:r>
            <a:endParaRPr sz="900"/>
          </a:p>
        </p:txBody>
      </p:sp>
      <p:sp>
        <p:nvSpPr>
          <p:cNvPr id="6" name="Shape 3">
            <a:extLst>
              <a:ext uri="{FF2B5EF4-FFF2-40B4-BE49-F238E27FC236}">
                <a16:creationId xmlns:a16="http://schemas.microsoft.com/office/drawing/2014/main" id="{0E731130-3347-497A-AF3E-1FEC8D6DC3A0}"/>
              </a:ext>
            </a:extLst>
          </p:cNvPr>
          <p:cNvSpPr>
            <a:spLocks noGrp="1"/>
          </p:cNvSpPr>
          <p:nvPr/>
        </p:nvSpPr>
        <p:spPr>
          <a:xfrm>
            <a:off x="457200" y="1417320"/>
            <a:ext cx="1645920" cy="1600200"/>
          </a:xfrm>
          <a:prstGeom prst="roundRect">
            <a:avLst>
              <a:gd name="adj" fmla="val 4571"/>
            </a:avLst>
          </a:prstGeom>
          <a:solidFill>
            <a:srgbClr val="F2F6F3"/>
          </a:solidFill>
          <a:ln w="9525">
            <a:solidFill>
              <a:srgbClr val="B9CEC0"/>
            </a:solidFill>
            <a:prstDash val="solid"/>
          </a:ln>
        </p:spPr>
        <p:txBody>
          <a:bodyPr/>
          <a:lstStyle/>
          <a:p>
            <a:endParaRPr lang="fr-FR"/>
          </a:p>
        </p:txBody>
      </p:sp>
      <p:sp>
        <p:nvSpPr>
          <p:cNvPr id="7" name="Text 4">
            <a:extLst>
              <a:ext uri="{FF2B5EF4-FFF2-40B4-BE49-F238E27FC236}">
                <a16:creationId xmlns:a16="http://schemas.microsoft.com/office/drawing/2014/main" id="{C3AD4B60-EF90-48EA-A994-7CC4170AA4B2}"/>
              </a:ext>
            </a:extLst>
          </p:cNvPr>
          <p:cNvSpPr>
            <a:spLocks noGrp="1"/>
          </p:cNvSpPr>
          <p:nvPr/>
        </p:nvSpPr>
        <p:spPr>
          <a:xfrm>
            <a:off x="594360" y="1554480"/>
            <a:ext cx="1417320" cy="274320"/>
          </a:xfrm>
          <a:prstGeom prst="rect">
            <a:avLst/>
          </a:prstGeom>
          <a:noFill/>
        </p:spPr>
        <p:txBody>
          <a:bodyPr wrap="square" lIns="0" tIns="0" rIns="0" bIns="0" anchor="t"/>
          <a:lstStyle/>
          <a:p>
            <a:pPr marL="0" indent="0">
              <a:buNone/>
            </a:pPr>
            <a:r>
              <a:rPr sz="800" b="1" spc="100">
                <a:solidFill>
                  <a:srgbClr val="185C94"/>
                </a:solidFill>
                <a:latin typeface="Calibri"/>
                <a:ea typeface="Calibri"/>
                <a:cs typeface="Calibri"/>
              </a:rPr>
              <a:t>ACQUISITION</a:t>
            </a:r>
            <a:endParaRPr sz="800"/>
          </a:p>
        </p:txBody>
      </p:sp>
      <p:sp>
        <p:nvSpPr>
          <p:cNvPr id="8" name="Text 5">
            <a:extLst>
              <a:ext uri="{FF2B5EF4-FFF2-40B4-BE49-F238E27FC236}">
                <a16:creationId xmlns:a16="http://schemas.microsoft.com/office/drawing/2014/main" id="{DFD5A362-FEDA-47AC-8CAC-39E360B2652E}"/>
              </a:ext>
            </a:extLst>
          </p:cNvPr>
          <p:cNvSpPr>
            <a:spLocks noGrp="1"/>
          </p:cNvSpPr>
          <p:nvPr/>
        </p:nvSpPr>
        <p:spPr>
          <a:xfrm>
            <a:off x="594360" y="1847088"/>
            <a:ext cx="1417320" cy="365760"/>
          </a:xfrm>
          <a:prstGeom prst="rect">
            <a:avLst/>
          </a:prstGeom>
          <a:noFill/>
        </p:spPr>
        <p:txBody>
          <a:bodyPr wrap="square" lIns="0" tIns="0" rIns="0" bIns="0" anchor="t"/>
          <a:lstStyle/>
          <a:p>
            <a:pPr marL="0" indent="0">
              <a:buNone/>
            </a:pPr>
            <a:r>
              <a:rPr sz="1450" b="1">
                <a:solidFill>
                  <a:srgbClr val="142820"/>
                </a:solidFill>
                <a:latin typeface="Arial"/>
                <a:ea typeface="Arial"/>
                <a:cs typeface="Arial"/>
              </a:rPr>
              <a:t>Capteurs</a:t>
            </a:r>
            <a:endParaRPr sz="1450"/>
          </a:p>
        </p:txBody>
      </p:sp>
      <p:sp>
        <p:nvSpPr>
          <p:cNvPr id="9" name="Text 6">
            <a:extLst>
              <a:ext uri="{FF2B5EF4-FFF2-40B4-BE49-F238E27FC236}">
                <a16:creationId xmlns:a16="http://schemas.microsoft.com/office/drawing/2014/main" id="{3C74CFAF-55CD-4C98-AD5D-195EA1C183C0}"/>
              </a:ext>
            </a:extLst>
          </p:cNvPr>
          <p:cNvSpPr>
            <a:spLocks noGrp="1"/>
          </p:cNvSpPr>
          <p:nvPr/>
        </p:nvSpPr>
        <p:spPr>
          <a:xfrm>
            <a:off x="594360" y="2286000"/>
            <a:ext cx="1417320" cy="640080"/>
          </a:xfrm>
          <a:prstGeom prst="rect">
            <a:avLst/>
          </a:prstGeom>
          <a:noFill/>
        </p:spPr>
        <p:txBody>
          <a:bodyPr wrap="square" lIns="0" tIns="0" rIns="0" bIns="0" anchor="t"/>
          <a:lstStyle/>
          <a:p>
            <a:pPr marL="0" indent="0">
              <a:buNone/>
              <a:defRPr sz="1163">
                <a:solidFill>
                  <a:srgbClr val="233C32"/>
                </a:solidFill>
              </a:defRPr>
            </a:pPr>
            <a:r>
              <a:rPr sz="1163">
                <a:solidFill>
                  <a:srgbClr val="233C32"/>
                </a:solidFill>
                <a:latin typeface="Calibri"/>
                <a:ea typeface="Calibri"/>
                <a:cs typeface="Calibri"/>
              </a:rPr>
              <a:t>DHT11, photorésistance et sonde d’eau</a:t>
            </a:r>
            <a:endParaRPr sz="1100"/>
          </a:p>
        </p:txBody>
      </p:sp>
      <p:sp>
        <p:nvSpPr>
          <p:cNvPr id="10" name="Shape 7">
            <a:extLst>
              <a:ext uri="{FF2B5EF4-FFF2-40B4-BE49-F238E27FC236}">
                <a16:creationId xmlns:a16="http://schemas.microsoft.com/office/drawing/2014/main" id="{81BB51CB-39D0-43F6-8585-5F1ECAC13A13}"/>
              </a:ext>
            </a:extLst>
          </p:cNvPr>
          <p:cNvSpPr>
            <a:spLocks noGrp="1"/>
          </p:cNvSpPr>
          <p:nvPr/>
        </p:nvSpPr>
        <p:spPr>
          <a:xfrm>
            <a:off x="2651760" y="1417320"/>
            <a:ext cx="1645920" cy="1600200"/>
          </a:xfrm>
          <a:prstGeom prst="roundRect">
            <a:avLst>
              <a:gd name="adj" fmla="val 4571"/>
            </a:avLst>
          </a:prstGeom>
          <a:solidFill>
            <a:srgbClr val="F2F6F3"/>
          </a:solidFill>
          <a:ln w="9525">
            <a:solidFill>
              <a:srgbClr val="B9CEC0"/>
            </a:solidFill>
            <a:prstDash val="solid"/>
          </a:ln>
        </p:spPr>
        <p:txBody>
          <a:bodyPr/>
          <a:lstStyle/>
          <a:p>
            <a:endParaRPr lang="fr-FR"/>
          </a:p>
        </p:txBody>
      </p:sp>
      <p:sp>
        <p:nvSpPr>
          <p:cNvPr id="11" name="Text 8">
            <a:extLst>
              <a:ext uri="{FF2B5EF4-FFF2-40B4-BE49-F238E27FC236}">
                <a16:creationId xmlns:a16="http://schemas.microsoft.com/office/drawing/2014/main" id="{18B51EC4-E3C4-4E4D-A568-8C3464204C74}"/>
              </a:ext>
            </a:extLst>
          </p:cNvPr>
          <p:cNvSpPr>
            <a:spLocks noGrp="1"/>
          </p:cNvSpPr>
          <p:nvPr/>
        </p:nvSpPr>
        <p:spPr>
          <a:xfrm>
            <a:off x="2788920" y="1554480"/>
            <a:ext cx="1417320" cy="274320"/>
          </a:xfrm>
          <a:prstGeom prst="rect">
            <a:avLst/>
          </a:prstGeom>
          <a:noFill/>
        </p:spPr>
        <p:txBody>
          <a:bodyPr wrap="square" lIns="0" tIns="0" rIns="0" bIns="0" anchor="t"/>
          <a:lstStyle/>
          <a:p>
            <a:pPr marL="0" indent="0">
              <a:buNone/>
            </a:pPr>
            <a:r>
              <a:rPr sz="800" b="1" spc="100">
                <a:solidFill>
                  <a:srgbClr val="006B45"/>
                </a:solidFill>
                <a:latin typeface="Calibri"/>
                <a:ea typeface="Calibri"/>
                <a:cs typeface="Calibri"/>
              </a:rPr>
              <a:t>LECTURE ET COMMANDE</a:t>
            </a:r>
            <a:endParaRPr sz="800"/>
          </a:p>
        </p:txBody>
      </p:sp>
      <p:sp>
        <p:nvSpPr>
          <p:cNvPr id="12" name="Text 9">
            <a:extLst>
              <a:ext uri="{FF2B5EF4-FFF2-40B4-BE49-F238E27FC236}">
                <a16:creationId xmlns:a16="http://schemas.microsoft.com/office/drawing/2014/main" id="{6EBD264F-76D9-4467-A924-45A79544EA8E}"/>
              </a:ext>
            </a:extLst>
          </p:cNvPr>
          <p:cNvSpPr>
            <a:spLocks noGrp="1"/>
          </p:cNvSpPr>
          <p:nvPr/>
        </p:nvSpPr>
        <p:spPr>
          <a:xfrm>
            <a:off x="2788920" y="1847088"/>
            <a:ext cx="1417320" cy="365760"/>
          </a:xfrm>
          <a:prstGeom prst="rect">
            <a:avLst/>
          </a:prstGeom>
          <a:noFill/>
        </p:spPr>
        <p:txBody>
          <a:bodyPr wrap="square" lIns="0" tIns="0" rIns="0" bIns="0" anchor="t"/>
          <a:lstStyle/>
          <a:p>
            <a:pPr marL="0" indent="0">
              <a:buNone/>
            </a:pPr>
            <a:r>
              <a:rPr sz="1450" b="1">
                <a:solidFill>
                  <a:srgbClr val="142820"/>
                </a:solidFill>
                <a:latin typeface="Arial"/>
                <a:ea typeface="Arial"/>
                <a:cs typeface="Arial"/>
              </a:rPr>
              <a:t>Arduino Yún</a:t>
            </a:r>
            <a:endParaRPr sz="1450"/>
          </a:p>
        </p:txBody>
      </p:sp>
      <p:sp>
        <p:nvSpPr>
          <p:cNvPr id="13" name="Text 10">
            <a:extLst>
              <a:ext uri="{FF2B5EF4-FFF2-40B4-BE49-F238E27FC236}">
                <a16:creationId xmlns:a16="http://schemas.microsoft.com/office/drawing/2014/main" id="{8147182F-02A9-45FC-B56C-79C755DFBE3C}"/>
              </a:ext>
            </a:extLst>
          </p:cNvPr>
          <p:cNvSpPr>
            <a:spLocks noGrp="1"/>
          </p:cNvSpPr>
          <p:nvPr/>
        </p:nvSpPr>
        <p:spPr>
          <a:xfrm>
            <a:off x="2788920" y="2286000"/>
            <a:ext cx="1417320" cy="640080"/>
          </a:xfrm>
          <a:prstGeom prst="rect">
            <a:avLst/>
          </a:prstGeom>
          <a:noFill/>
        </p:spPr>
        <p:txBody>
          <a:bodyPr wrap="square" lIns="0" tIns="0" rIns="0" bIns="0" anchor="t"/>
          <a:lstStyle/>
          <a:p>
            <a:pPr marL="0" indent="0">
              <a:buNone/>
              <a:defRPr sz="1163">
                <a:solidFill>
                  <a:srgbClr val="233C32"/>
                </a:solidFill>
              </a:defRPr>
            </a:pPr>
            <a:r>
              <a:rPr sz="1163">
                <a:solidFill>
                  <a:srgbClr val="233C32"/>
                </a:solidFill>
                <a:latin typeface="Calibri"/>
                <a:ea typeface="Calibri"/>
                <a:cs typeface="Calibri"/>
              </a:rPr>
              <a:t>Lit les capteurs, pilote la LED</a:t>
            </a:r>
            <a:endParaRPr sz="1100"/>
          </a:p>
        </p:txBody>
      </p:sp>
      <p:sp>
        <p:nvSpPr>
          <p:cNvPr id="14" name="Shape 11">
            <a:extLst>
              <a:ext uri="{FF2B5EF4-FFF2-40B4-BE49-F238E27FC236}">
                <a16:creationId xmlns:a16="http://schemas.microsoft.com/office/drawing/2014/main" id="{594A2CE9-F044-4DE2-A081-83F50A8DE5A8}"/>
              </a:ext>
            </a:extLst>
          </p:cNvPr>
          <p:cNvSpPr>
            <a:spLocks noGrp="1"/>
          </p:cNvSpPr>
          <p:nvPr/>
        </p:nvSpPr>
        <p:spPr>
          <a:xfrm>
            <a:off x="4846320" y="1417320"/>
            <a:ext cx="1645920" cy="1600200"/>
          </a:xfrm>
          <a:prstGeom prst="roundRect">
            <a:avLst>
              <a:gd name="adj" fmla="val 4571"/>
            </a:avLst>
          </a:prstGeom>
          <a:solidFill>
            <a:srgbClr val="F2F6F3"/>
          </a:solidFill>
          <a:ln w="9525">
            <a:solidFill>
              <a:srgbClr val="B9CEC0"/>
            </a:solidFill>
            <a:prstDash val="solid"/>
          </a:ln>
        </p:spPr>
        <p:txBody>
          <a:bodyPr/>
          <a:lstStyle/>
          <a:p>
            <a:endParaRPr lang="fr-FR"/>
          </a:p>
        </p:txBody>
      </p:sp>
      <p:sp>
        <p:nvSpPr>
          <p:cNvPr id="15" name="Text 12">
            <a:extLst>
              <a:ext uri="{FF2B5EF4-FFF2-40B4-BE49-F238E27FC236}">
                <a16:creationId xmlns:a16="http://schemas.microsoft.com/office/drawing/2014/main" id="{6E8D1F56-AA57-4D4E-A691-B3E3ABDB37ED}"/>
              </a:ext>
            </a:extLst>
          </p:cNvPr>
          <p:cNvSpPr>
            <a:spLocks noGrp="1"/>
          </p:cNvSpPr>
          <p:nvPr/>
        </p:nvSpPr>
        <p:spPr>
          <a:xfrm>
            <a:off x="4983480" y="1554480"/>
            <a:ext cx="1417320" cy="274320"/>
          </a:xfrm>
          <a:prstGeom prst="rect">
            <a:avLst/>
          </a:prstGeom>
          <a:noFill/>
        </p:spPr>
        <p:txBody>
          <a:bodyPr wrap="square" lIns="0" tIns="0" rIns="0" bIns="0" anchor="t"/>
          <a:lstStyle/>
          <a:p>
            <a:pPr marL="0" indent="0">
              <a:buNone/>
            </a:pPr>
            <a:r>
              <a:rPr sz="800" b="1" spc="100">
                <a:solidFill>
                  <a:srgbClr val="006B45"/>
                </a:solidFill>
                <a:latin typeface="Calibri"/>
                <a:ea typeface="Calibri"/>
                <a:cs typeface="Calibri"/>
              </a:rPr>
              <a:t>TRAITEMENT ET STOCKAGE</a:t>
            </a:r>
            <a:endParaRPr sz="800"/>
          </a:p>
        </p:txBody>
      </p:sp>
      <p:sp>
        <p:nvSpPr>
          <p:cNvPr id="16" name="Text 13">
            <a:extLst>
              <a:ext uri="{FF2B5EF4-FFF2-40B4-BE49-F238E27FC236}">
                <a16:creationId xmlns:a16="http://schemas.microsoft.com/office/drawing/2014/main" id="{6555165F-C6DE-4856-9534-62687B39984C}"/>
              </a:ext>
            </a:extLst>
          </p:cNvPr>
          <p:cNvSpPr>
            <a:spLocks noGrp="1"/>
          </p:cNvSpPr>
          <p:nvPr/>
        </p:nvSpPr>
        <p:spPr>
          <a:xfrm>
            <a:off x="4983480" y="1847088"/>
            <a:ext cx="1417320" cy="365760"/>
          </a:xfrm>
          <a:prstGeom prst="rect">
            <a:avLst/>
          </a:prstGeom>
          <a:noFill/>
        </p:spPr>
        <p:txBody>
          <a:bodyPr wrap="square" lIns="0" tIns="0" rIns="0" bIns="0" anchor="t"/>
          <a:lstStyle/>
          <a:p>
            <a:pPr marL="0" indent="0">
              <a:buNone/>
            </a:pPr>
            <a:r>
              <a:rPr sz="1450" b="1">
                <a:solidFill>
                  <a:srgbClr val="142820"/>
                </a:solidFill>
                <a:latin typeface="Arial"/>
                <a:ea typeface="Arial"/>
                <a:cs typeface="Arial"/>
              </a:rPr>
              <a:t>Raspberry Pi 3</a:t>
            </a:r>
            <a:endParaRPr sz="1450"/>
          </a:p>
        </p:txBody>
      </p:sp>
      <p:sp>
        <p:nvSpPr>
          <p:cNvPr id="17" name="Text 14">
            <a:extLst>
              <a:ext uri="{FF2B5EF4-FFF2-40B4-BE49-F238E27FC236}">
                <a16:creationId xmlns:a16="http://schemas.microsoft.com/office/drawing/2014/main" id="{2CAA96B9-3EAE-4B87-9E51-810CD5A83EFE}"/>
              </a:ext>
            </a:extLst>
          </p:cNvPr>
          <p:cNvSpPr>
            <a:spLocks noGrp="1"/>
          </p:cNvSpPr>
          <p:nvPr/>
        </p:nvSpPr>
        <p:spPr>
          <a:xfrm>
            <a:off x="4983480" y="2286000"/>
            <a:ext cx="1417320" cy="640080"/>
          </a:xfrm>
          <a:prstGeom prst="rect">
            <a:avLst/>
          </a:prstGeom>
          <a:noFill/>
        </p:spPr>
        <p:txBody>
          <a:bodyPr wrap="square" lIns="0" tIns="0" rIns="0" bIns="0" anchor="t"/>
          <a:lstStyle/>
          <a:p>
            <a:pPr marL="0" indent="0">
              <a:buNone/>
              <a:defRPr sz="1163">
                <a:solidFill>
                  <a:srgbClr val="233C32"/>
                </a:solidFill>
              </a:defRPr>
            </a:pPr>
            <a:r>
              <a:rPr sz="1163">
                <a:solidFill>
                  <a:srgbClr val="233C32"/>
                </a:solidFill>
                <a:latin typeface="Calibri"/>
                <a:ea typeface="Calibri"/>
                <a:cs typeface="Calibri"/>
              </a:rPr>
              <a:t>API Python + base SQLite</a:t>
            </a:r>
            <a:endParaRPr sz="1100"/>
          </a:p>
        </p:txBody>
      </p:sp>
      <p:sp>
        <p:nvSpPr>
          <p:cNvPr id="18" name="Shape 15">
            <a:extLst>
              <a:ext uri="{FF2B5EF4-FFF2-40B4-BE49-F238E27FC236}">
                <a16:creationId xmlns:a16="http://schemas.microsoft.com/office/drawing/2014/main" id="{8E9EE595-12A4-45F7-AEF6-B3DE0E7BD2BD}"/>
              </a:ext>
            </a:extLst>
          </p:cNvPr>
          <p:cNvSpPr>
            <a:spLocks noGrp="1"/>
          </p:cNvSpPr>
          <p:nvPr/>
        </p:nvSpPr>
        <p:spPr>
          <a:xfrm>
            <a:off x="7040880" y="1417320"/>
            <a:ext cx="1645920" cy="1600200"/>
          </a:xfrm>
          <a:prstGeom prst="roundRect">
            <a:avLst>
              <a:gd name="adj" fmla="val 4571"/>
            </a:avLst>
          </a:prstGeom>
          <a:solidFill>
            <a:srgbClr val="F2F6F3"/>
          </a:solidFill>
          <a:ln w="9525">
            <a:solidFill>
              <a:srgbClr val="B9CEC0"/>
            </a:solidFill>
            <a:prstDash val="solid"/>
          </a:ln>
        </p:spPr>
        <p:txBody>
          <a:bodyPr/>
          <a:lstStyle/>
          <a:p>
            <a:endParaRPr lang="fr-FR"/>
          </a:p>
        </p:txBody>
      </p:sp>
      <p:sp>
        <p:nvSpPr>
          <p:cNvPr id="19" name="Text 16">
            <a:extLst>
              <a:ext uri="{FF2B5EF4-FFF2-40B4-BE49-F238E27FC236}">
                <a16:creationId xmlns:a16="http://schemas.microsoft.com/office/drawing/2014/main" id="{5AC4C9BA-A7A2-4417-9923-96DCFF6EBDE1}"/>
              </a:ext>
            </a:extLst>
          </p:cNvPr>
          <p:cNvSpPr>
            <a:spLocks noGrp="1"/>
          </p:cNvSpPr>
          <p:nvPr/>
        </p:nvSpPr>
        <p:spPr>
          <a:xfrm>
            <a:off x="7178040" y="1554480"/>
            <a:ext cx="1417320" cy="274320"/>
          </a:xfrm>
          <a:prstGeom prst="rect">
            <a:avLst/>
          </a:prstGeom>
          <a:noFill/>
        </p:spPr>
        <p:txBody>
          <a:bodyPr wrap="square" lIns="0" tIns="0" rIns="0" bIns="0" anchor="t"/>
          <a:lstStyle/>
          <a:p>
            <a:pPr marL="0" indent="0">
              <a:buNone/>
            </a:pPr>
            <a:r>
              <a:rPr sz="800" b="1" spc="100">
                <a:solidFill>
                  <a:srgbClr val="955000"/>
                </a:solidFill>
                <a:latin typeface="Calibri"/>
                <a:ea typeface="Calibri"/>
                <a:cs typeface="Calibri"/>
              </a:rPr>
              <a:t>VISUALISATION</a:t>
            </a:r>
            <a:endParaRPr sz="800"/>
          </a:p>
        </p:txBody>
      </p:sp>
      <p:sp>
        <p:nvSpPr>
          <p:cNvPr id="20" name="Text 17">
            <a:extLst>
              <a:ext uri="{FF2B5EF4-FFF2-40B4-BE49-F238E27FC236}">
                <a16:creationId xmlns:a16="http://schemas.microsoft.com/office/drawing/2014/main" id="{0D00E9B6-419F-4FA9-95F5-CDD183A582B0}"/>
              </a:ext>
            </a:extLst>
          </p:cNvPr>
          <p:cNvSpPr>
            <a:spLocks noGrp="1"/>
          </p:cNvSpPr>
          <p:nvPr/>
        </p:nvSpPr>
        <p:spPr>
          <a:xfrm>
            <a:off x="7178040" y="1847088"/>
            <a:ext cx="1417320" cy="365760"/>
          </a:xfrm>
          <a:prstGeom prst="rect">
            <a:avLst/>
          </a:prstGeom>
          <a:noFill/>
        </p:spPr>
        <p:txBody>
          <a:bodyPr wrap="square" lIns="0" tIns="0" rIns="0" bIns="0" anchor="t"/>
          <a:lstStyle/>
          <a:p>
            <a:pPr marL="0" indent="0">
              <a:buNone/>
            </a:pPr>
            <a:r>
              <a:rPr sz="1450" b="1">
                <a:solidFill>
                  <a:srgbClr val="142820"/>
                </a:solidFill>
                <a:latin typeface="Arial"/>
                <a:ea typeface="Arial"/>
                <a:cs typeface="Arial"/>
              </a:rPr>
              <a:t>Navigateur</a:t>
            </a:r>
            <a:endParaRPr sz="1450"/>
          </a:p>
        </p:txBody>
      </p:sp>
      <p:sp>
        <p:nvSpPr>
          <p:cNvPr id="21" name="Text 18">
            <a:extLst>
              <a:ext uri="{FF2B5EF4-FFF2-40B4-BE49-F238E27FC236}">
                <a16:creationId xmlns:a16="http://schemas.microsoft.com/office/drawing/2014/main" id="{278FE99C-8A1E-4D7D-AE11-13E10DE4EF1B}"/>
              </a:ext>
            </a:extLst>
          </p:cNvPr>
          <p:cNvSpPr>
            <a:spLocks noGrp="1"/>
          </p:cNvSpPr>
          <p:nvPr/>
        </p:nvSpPr>
        <p:spPr>
          <a:xfrm>
            <a:off x="7178040" y="2286000"/>
            <a:ext cx="1417320" cy="640080"/>
          </a:xfrm>
          <a:prstGeom prst="rect">
            <a:avLst/>
          </a:prstGeom>
          <a:noFill/>
        </p:spPr>
        <p:txBody>
          <a:bodyPr wrap="square" lIns="0" tIns="0" rIns="0" bIns="0" anchor="t"/>
          <a:lstStyle/>
          <a:p>
            <a:pPr marL="0" indent="0">
              <a:buNone/>
              <a:defRPr sz="1163">
                <a:solidFill>
                  <a:srgbClr val="233C32"/>
                </a:solidFill>
              </a:defRPr>
            </a:pPr>
            <a:r>
              <a:rPr sz="1163">
                <a:solidFill>
                  <a:srgbClr val="233C32"/>
                </a:solidFill>
                <a:latin typeface="Calibri"/>
                <a:ea typeface="Calibri"/>
                <a:cs typeface="Calibri"/>
              </a:rPr>
              <a:t>Tableau de bord React</a:t>
            </a:r>
            <a:endParaRPr sz="1100"/>
          </a:p>
        </p:txBody>
      </p:sp>
      <p:sp>
        <p:nvSpPr>
          <p:cNvPr id="22" name="Shape 19">
            <a:extLst>
              <a:ext uri="{FF2B5EF4-FFF2-40B4-BE49-F238E27FC236}">
                <a16:creationId xmlns:a16="http://schemas.microsoft.com/office/drawing/2014/main" id="{6764681E-1629-40C5-9AE6-7E7C7D46BC3F}"/>
              </a:ext>
            </a:extLst>
          </p:cNvPr>
          <p:cNvSpPr>
            <a:spLocks noGrp="1"/>
          </p:cNvSpPr>
          <p:nvPr/>
        </p:nvSpPr>
        <p:spPr>
          <a:xfrm>
            <a:off x="2130552" y="2011680"/>
            <a:ext cx="493776" cy="0"/>
          </a:xfrm>
          <a:prstGeom prst="line">
            <a:avLst/>
          </a:prstGeom>
          <a:noFill/>
          <a:ln w="22225">
            <a:solidFill>
              <a:srgbClr val="006B45"/>
            </a:solidFill>
            <a:prstDash val="solid"/>
            <a:tailEnd type="triangle"/>
          </a:ln>
        </p:spPr>
        <p:txBody>
          <a:bodyPr/>
          <a:lstStyle/>
          <a:p>
            <a:endParaRPr lang="fr-FR"/>
          </a:p>
        </p:txBody>
      </p:sp>
      <p:sp>
        <p:nvSpPr>
          <p:cNvPr id="23" name="Text 20">
            <a:extLst>
              <a:ext uri="{FF2B5EF4-FFF2-40B4-BE49-F238E27FC236}">
                <a16:creationId xmlns:a16="http://schemas.microsoft.com/office/drawing/2014/main" id="{9CB1C57D-62BB-4D5B-868D-724D3D8A6DFE}"/>
              </a:ext>
            </a:extLst>
          </p:cNvPr>
          <p:cNvSpPr>
            <a:spLocks noGrp="1"/>
          </p:cNvSpPr>
          <p:nvPr/>
        </p:nvSpPr>
        <p:spPr>
          <a:xfrm>
            <a:off x="2057400" y="2148840"/>
            <a:ext cx="640080" cy="457200"/>
          </a:xfrm>
          <a:prstGeom prst="rect">
            <a:avLst/>
          </a:prstGeom>
          <a:noFill/>
        </p:spPr>
        <p:txBody>
          <a:bodyPr wrap="square" lIns="0" tIns="0" rIns="0" bIns="0" anchor="t"/>
          <a:lstStyle/>
          <a:p>
            <a:pPr marL="0" indent="0" algn="ctr">
              <a:buNone/>
            </a:pPr>
            <a:r>
              <a:rPr sz="800">
                <a:solidFill>
                  <a:srgbClr val="43574D"/>
                </a:solidFill>
                <a:latin typeface="Calibri"/>
                <a:ea typeface="Calibri"/>
                <a:cs typeface="Calibri"/>
              </a:rPr>
              <a:t>fils</a:t>
            </a:r>
            <a:endParaRPr sz="800"/>
          </a:p>
        </p:txBody>
      </p:sp>
      <p:sp>
        <p:nvSpPr>
          <p:cNvPr id="24" name="Shape 21">
            <a:extLst>
              <a:ext uri="{FF2B5EF4-FFF2-40B4-BE49-F238E27FC236}">
                <a16:creationId xmlns:a16="http://schemas.microsoft.com/office/drawing/2014/main" id="{CF4D52CB-C5AB-430F-A6F3-8EFA1DB2B0FF}"/>
              </a:ext>
            </a:extLst>
          </p:cNvPr>
          <p:cNvSpPr>
            <a:spLocks noGrp="1"/>
          </p:cNvSpPr>
          <p:nvPr/>
        </p:nvSpPr>
        <p:spPr>
          <a:xfrm>
            <a:off x="4325112" y="2011680"/>
            <a:ext cx="493776" cy="0"/>
          </a:xfrm>
          <a:prstGeom prst="line">
            <a:avLst/>
          </a:prstGeom>
          <a:noFill/>
          <a:ln w="22225">
            <a:solidFill>
              <a:srgbClr val="006B45"/>
            </a:solidFill>
            <a:prstDash val="solid"/>
            <a:tailEnd type="triangle"/>
          </a:ln>
        </p:spPr>
        <p:txBody>
          <a:bodyPr/>
          <a:lstStyle/>
          <a:p>
            <a:endParaRPr lang="fr-FR"/>
          </a:p>
        </p:txBody>
      </p:sp>
      <p:sp>
        <p:nvSpPr>
          <p:cNvPr id="25" name="Text 22">
            <a:extLst>
              <a:ext uri="{FF2B5EF4-FFF2-40B4-BE49-F238E27FC236}">
                <a16:creationId xmlns:a16="http://schemas.microsoft.com/office/drawing/2014/main" id="{D85B2F2E-18D4-42CE-AE20-5FD84287C3F0}"/>
              </a:ext>
            </a:extLst>
          </p:cNvPr>
          <p:cNvSpPr>
            <a:spLocks noGrp="1"/>
          </p:cNvSpPr>
          <p:nvPr/>
        </p:nvSpPr>
        <p:spPr>
          <a:xfrm>
            <a:off x="4251960" y="2148840"/>
            <a:ext cx="640080" cy="457200"/>
          </a:xfrm>
          <a:prstGeom prst="rect">
            <a:avLst/>
          </a:prstGeom>
          <a:noFill/>
        </p:spPr>
        <p:txBody>
          <a:bodyPr wrap="square" lIns="0" tIns="0" rIns="0" bIns="0" anchor="t"/>
          <a:lstStyle/>
          <a:p>
            <a:pPr marL="0" indent="0" algn="ctr">
              <a:buNone/>
            </a:pPr>
            <a:r>
              <a:rPr sz="800">
                <a:solidFill>
                  <a:srgbClr val="43574D"/>
                </a:solidFill>
                <a:latin typeface="Calibri"/>
                <a:ea typeface="Calibri"/>
                <a:cs typeface="Calibri"/>
              </a:rPr>
              <a:t>Wi-Fi · JSON</a:t>
            </a:r>
            <a:endParaRPr sz="800"/>
          </a:p>
          <a:p>
            <a:pPr marL="0" indent="0" algn="ctr">
              <a:buNone/>
            </a:pPr>
            <a:r>
              <a:rPr sz="800">
                <a:solidFill>
                  <a:srgbClr val="43574D"/>
                </a:solidFill>
                <a:latin typeface="Calibri"/>
                <a:ea typeface="Calibri"/>
                <a:cs typeface="Calibri"/>
              </a:rPr>
              <a:t>toutes les 2 s</a:t>
            </a:r>
            <a:endParaRPr sz="800"/>
          </a:p>
        </p:txBody>
      </p:sp>
      <p:sp>
        <p:nvSpPr>
          <p:cNvPr id="26" name="Shape 23">
            <a:extLst>
              <a:ext uri="{FF2B5EF4-FFF2-40B4-BE49-F238E27FC236}">
                <a16:creationId xmlns:a16="http://schemas.microsoft.com/office/drawing/2014/main" id="{53ECD25B-7B37-4FFF-8F53-E59D02D0E670}"/>
              </a:ext>
            </a:extLst>
          </p:cNvPr>
          <p:cNvSpPr>
            <a:spLocks noGrp="1"/>
          </p:cNvSpPr>
          <p:nvPr/>
        </p:nvSpPr>
        <p:spPr>
          <a:xfrm>
            <a:off x="6519672" y="2011680"/>
            <a:ext cx="493776" cy="0"/>
          </a:xfrm>
          <a:prstGeom prst="line">
            <a:avLst/>
          </a:prstGeom>
          <a:noFill/>
          <a:ln w="22225">
            <a:solidFill>
              <a:srgbClr val="006B45"/>
            </a:solidFill>
            <a:prstDash val="solid"/>
            <a:tailEnd type="triangle"/>
          </a:ln>
        </p:spPr>
        <p:txBody>
          <a:bodyPr/>
          <a:lstStyle/>
          <a:p>
            <a:endParaRPr lang="fr-FR"/>
          </a:p>
        </p:txBody>
      </p:sp>
      <p:sp>
        <p:nvSpPr>
          <p:cNvPr id="27" name="Text 24">
            <a:extLst>
              <a:ext uri="{FF2B5EF4-FFF2-40B4-BE49-F238E27FC236}">
                <a16:creationId xmlns:a16="http://schemas.microsoft.com/office/drawing/2014/main" id="{ED255948-5454-425A-AE99-97984605C4BA}"/>
              </a:ext>
            </a:extLst>
          </p:cNvPr>
          <p:cNvSpPr>
            <a:spLocks noGrp="1"/>
          </p:cNvSpPr>
          <p:nvPr/>
        </p:nvSpPr>
        <p:spPr>
          <a:xfrm>
            <a:off x="6446520" y="2148840"/>
            <a:ext cx="640080" cy="457200"/>
          </a:xfrm>
          <a:prstGeom prst="rect">
            <a:avLst/>
          </a:prstGeom>
          <a:noFill/>
        </p:spPr>
        <p:txBody>
          <a:bodyPr wrap="square" lIns="0" tIns="0" rIns="0" bIns="0" anchor="t"/>
          <a:lstStyle/>
          <a:p>
            <a:pPr marL="0" indent="0" algn="ctr">
              <a:buNone/>
            </a:pPr>
            <a:r>
              <a:rPr sz="800">
                <a:solidFill>
                  <a:srgbClr val="43574D"/>
                </a:solidFill>
                <a:latin typeface="Calibri"/>
                <a:ea typeface="Calibri"/>
                <a:cs typeface="Calibri"/>
              </a:rPr>
              <a:t>HTTP</a:t>
            </a:r>
            <a:endParaRPr sz="800"/>
          </a:p>
          <a:p>
            <a:pPr marL="0" indent="0" algn="ctr">
              <a:buNone/>
            </a:pPr>
            <a:r>
              <a:rPr sz="800">
                <a:solidFill>
                  <a:srgbClr val="43574D"/>
                </a:solidFill>
                <a:latin typeface="Calibri"/>
                <a:ea typeface="Calibri"/>
                <a:cs typeface="Calibri"/>
              </a:rPr>
              <a:t>toutes les 3 s</a:t>
            </a:r>
            <a:endParaRPr sz="800"/>
          </a:p>
        </p:txBody>
      </p:sp>
      <p:sp>
        <p:nvSpPr>
          <p:cNvPr id="28" name="Shape 25">
            <a:extLst>
              <a:ext uri="{FF2B5EF4-FFF2-40B4-BE49-F238E27FC236}">
                <a16:creationId xmlns:a16="http://schemas.microsoft.com/office/drawing/2014/main" id="{CB5BB1A9-3FB1-4F93-BB89-1C9088A8F9CE}"/>
              </a:ext>
            </a:extLst>
          </p:cNvPr>
          <p:cNvSpPr>
            <a:spLocks noGrp="1"/>
          </p:cNvSpPr>
          <p:nvPr/>
        </p:nvSpPr>
        <p:spPr>
          <a:xfrm>
            <a:off x="5669280" y="3017520"/>
            <a:ext cx="0" cy="411480"/>
          </a:xfrm>
          <a:prstGeom prst="line">
            <a:avLst/>
          </a:prstGeom>
          <a:noFill/>
          <a:ln w="19050">
            <a:solidFill>
              <a:srgbClr val="955000"/>
            </a:solidFill>
            <a:prstDash val="dash"/>
          </a:ln>
        </p:spPr>
        <p:txBody>
          <a:bodyPr/>
          <a:lstStyle/>
          <a:p>
            <a:endParaRPr lang="fr-FR"/>
          </a:p>
        </p:txBody>
      </p:sp>
      <p:sp>
        <p:nvSpPr>
          <p:cNvPr id="29" name="Shape 26">
            <a:extLst>
              <a:ext uri="{FF2B5EF4-FFF2-40B4-BE49-F238E27FC236}">
                <a16:creationId xmlns:a16="http://schemas.microsoft.com/office/drawing/2014/main" id="{4D5ECB31-A284-4FBF-96DA-82580B9E1A3C}"/>
              </a:ext>
            </a:extLst>
          </p:cNvPr>
          <p:cNvSpPr>
            <a:spLocks noGrp="1"/>
          </p:cNvSpPr>
          <p:nvPr/>
        </p:nvSpPr>
        <p:spPr>
          <a:xfrm>
            <a:off x="3474720" y="3429000"/>
            <a:ext cx="2194560" cy="0"/>
          </a:xfrm>
          <a:prstGeom prst="line">
            <a:avLst/>
          </a:prstGeom>
          <a:noFill/>
          <a:ln w="19050">
            <a:solidFill>
              <a:srgbClr val="955000"/>
            </a:solidFill>
            <a:prstDash val="dash"/>
          </a:ln>
        </p:spPr>
        <p:txBody>
          <a:bodyPr/>
          <a:lstStyle/>
          <a:p>
            <a:endParaRPr lang="fr-FR"/>
          </a:p>
        </p:txBody>
      </p:sp>
      <p:sp>
        <p:nvSpPr>
          <p:cNvPr id="30" name="Shape 27">
            <a:extLst>
              <a:ext uri="{FF2B5EF4-FFF2-40B4-BE49-F238E27FC236}">
                <a16:creationId xmlns:a16="http://schemas.microsoft.com/office/drawing/2014/main" id="{D0929795-6DA3-44AA-B680-13AF40090D4E}"/>
              </a:ext>
            </a:extLst>
          </p:cNvPr>
          <p:cNvSpPr>
            <a:spLocks noGrp="1"/>
          </p:cNvSpPr>
          <p:nvPr/>
        </p:nvSpPr>
        <p:spPr>
          <a:xfrm flipV="1">
            <a:off x="3474720" y="3017520"/>
            <a:ext cx="0" cy="411480"/>
          </a:xfrm>
          <a:prstGeom prst="line">
            <a:avLst/>
          </a:prstGeom>
          <a:noFill/>
          <a:ln w="19050">
            <a:solidFill>
              <a:srgbClr val="955000"/>
            </a:solidFill>
            <a:prstDash val="dash"/>
            <a:tailEnd type="triangle"/>
          </a:ln>
        </p:spPr>
        <p:txBody>
          <a:bodyPr/>
          <a:lstStyle/>
          <a:p>
            <a:endParaRPr lang="fr-FR"/>
          </a:p>
        </p:txBody>
      </p:sp>
      <p:sp>
        <p:nvSpPr>
          <p:cNvPr id="31" name="Text 28">
            <a:extLst>
              <a:ext uri="{FF2B5EF4-FFF2-40B4-BE49-F238E27FC236}">
                <a16:creationId xmlns:a16="http://schemas.microsoft.com/office/drawing/2014/main" id="{52B828D1-B060-40F5-A640-A94A0DF6E1F9}"/>
              </a:ext>
            </a:extLst>
          </p:cNvPr>
          <p:cNvSpPr>
            <a:spLocks noGrp="1"/>
          </p:cNvSpPr>
          <p:nvPr/>
        </p:nvSpPr>
        <p:spPr>
          <a:xfrm>
            <a:off x="3017520" y="3520440"/>
            <a:ext cx="3108960" cy="274320"/>
          </a:xfrm>
          <a:prstGeom prst="rect">
            <a:avLst/>
          </a:prstGeom>
          <a:noFill/>
        </p:spPr>
        <p:txBody>
          <a:bodyPr wrap="square" lIns="0" tIns="0" rIns="0" bIns="0" anchor="t"/>
          <a:lstStyle/>
          <a:p>
            <a:pPr marL="0" indent="0" algn="ctr">
              <a:buNone/>
            </a:pPr>
            <a:r>
              <a:rPr sz="1000">
                <a:solidFill>
                  <a:srgbClr val="955000"/>
                </a:solidFill>
                <a:latin typeface="Calibri"/>
                <a:ea typeface="Calibri"/>
                <a:cs typeface="Calibri"/>
              </a:rPr>
              <a:t>La réponse du Pi transmet la commande de la LED à la Yún</a:t>
            </a:r>
            <a:endParaRPr sz="1000"/>
          </a:p>
        </p:txBody>
      </p:sp>
      <p:sp>
        <p:nvSpPr>
          <p:cNvPr id="32" name="Shape 29">
            <a:extLst>
              <a:ext uri="{FF2B5EF4-FFF2-40B4-BE49-F238E27FC236}">
                <a16:creationId xmlns:a16="http://schemas.microsoft.com/office/drawing/2014/main" id="{AC0CCDE5-E9B4-42BA-99C5-5344B82226AF}"/>
              </a:ext>
            </a:extLst>
          </p:cNvPr>
          <p:cNvSpPr>
            <a:spLocks noGrp="1"/>
          </p:cNvSpPr>
          <p:nvPr/>
        </p:nvSpPr>
        <p:spPr>
          <a:xfrm>
            <a:off x="457200" y="4023360"/>
            <a:ext cx="8229600" cy="594360"/>
          </a:xfrm>
          <a:prstGeom prst="roundRect">
            <a:avLst>
              <a:gd name="adj" fmla="val 12308"/>
            </a:avLst>
          </a:prstGeom>
          <a:solidFill>
            <a:srgbClr val="F2F6F3"/>
          </a:solidFill>
          <a:ln w="9525">
            <a:solidFill>
              <a:srgbClr val="B9CEC0"/>
            </a:solidFill>
            <a:prstDash val="solid"/>
          </a:ln>
        </p:spPr>
        <p:txBody>
          <a:bodyPr/>
          <a:lstStyle/>
          <a:p>
            <a:endParaRPr lang="fr-FR"/>
          </a:p>
        </p:txBody>
      </p:sp>
      <p:sp>
        <p:nvSpPr>
          <p:cNvPr id="33" name="Text 30">
            <a:extLst>
              <a:ext uri="{FF2B5EF4-FFF2-40B4-BE49-F238E27FC236}">
                <a16:creationId xmlns:a16="http://schemas.microsoft.com/office/drawing/2014/main" id="{9BC4DF3A-D629-4B02-8646-DDF3B09AEADF}"/>
              </a:ext>
            </a:extLst>
          </p:cNvPr>
          <p:cNvSpPr>
            <a:spLocks noGrp="1"/>
          </p:cNvSpPr>
          <p:nvPr/>
        </p:nvSpPr>
        <p:spPr>
          <a:xfrm>
            <a:off x="685800" y="4023360"/>
            <a:ext cx="7863840" cy="594360"/>
          </a:xfrm>
          <a:prstGeom prst="rect">
            <a:avLst/>
          </a:prstGeom>
          <a:noFill/>
        </p:spPr>
        <p:txBody>
          <a:bodyPr wrap="square" lIns="0" tIns="0" rIns="0" bIns="0" anchor="ctr"/>
          <a:lstStyle/>
          <a:p>
            <a:pPr marL="0" indent="0">
              <a:buNone/>
            </a:pPr>
            <a:r>
              <a:rPr sz="1300" b="1">
                <a:solidFill>
                  <a:srgbClr val="006B45"/>
                </a:solidFill>
                <a:latin typeface="Calibri"/>
                <a:ea typeface="Calibri"/>
                <a:cs typeface="Calibri"/>
              </a:rPr>
              <a:t>Sans Internet ni cloud. Démarrage automatique avec systemd et conservation de 7 jours d’historique.</a:t>
            </a:r>
            <a:endParaRPr sz="1300"/>
          </a:p>
        </p:txBody>
      </p:sp>
    </p:spTree>
    <p:extLst>
      <p:ext uri="{BB962C8B-B14F-4D97-AF65-F5344CB8AC3E}">
        <p14:creationId xmlns:p14="http://schemas.microsoft.com/office/powerpoint/2010/main" val="1292660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A49818B-F568-4C59-8728-4F7F4D8B98EF}"/>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MATÉRIEL</a:t>
            </a:r>
            <a:endParaRPr sz="1000"/>
          </a:p>
        </p:txBody>
      </p:sp>
      <p:sp>
        <p:nvSpPr>
          <p:cNvPr id="4" name="Text 1">
            <a:extLst>
              <a:ext uri="{FF2B5EF4-FFF2-40B4-BE49-F238E27FC236}">
                <a16:creationId xmlns:a16="http://schemas.microsoft.com/office/drawing/2014/main" id="{D61ECEDF-1C29-45FC-ADC6-88B189E4FF6E}"/>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Les composants du prototype</a:t>
            </a:r>
            <a:endParaRPr sz="2800"/>
          </a:p>
        </p:txBody>
      </p:sp>
      <p:sp>
        <p:nvSpPr>
          <p:cNvPr id="5" name="Text 2">
            <a:extLst>
              <a:ext uri="{FF2B5EF4-FFF2-40B4-BE49-F238E27FC236}">
                <a16:creationId xmlns:a16="http://schemas.microsoft.com/office/drawing/2014/main" id="{BAA7407E-3368-44B8-8E99-1D36D4D923DE}"/>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5 / 12</a:t>
            </a:r>
            <a:endParaRPr sz="900"/>
          </a:p>
        </p:txBody>
      </p:sp>
      <p:graphicFrame>
        <p:nvGraphicFramePr>
          <p:cNvPr id="14" name="Table 0"/>
          <p:cNvGraphicFramePr/>
          <p:nvPr/>
        </p:nvGraphicFramePr>
        <p:xfrm>
          <a:off x="3383280" y="1234440"/>
          <a:ext cx="5305425" cy="3190875"/>
        </p:xfrm>
        <a:graphic>
          <a:graphicData uri="http://schemas.openxmlformats.org/drawingml/2006/table">
            <a:tbl>
              <a:tblPr/>
              <a:tblGrid>
                <a:gridCol w="142875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tblGrid>
              <a:tr h="323850">
                <a:tc>
                  <a:txBody>
                    <a:bodyPr/>
                    <a:lstStyle/>
                    <a:p>
                      <a:pPr marL="0" indent="0">
                        <a:buNone/>
                      </a:pPr>
                      <a:r>
                        <a:rPr sz="1100" b="1">
                          <a:solidFill>
                            <a:srgbClr val="006B45"/>
                          </a:solidFill>
                          <a:latin typeface="Calibri"/>
                          <a:ea typeface="Calibri"/>
                          <a:cs typeface="Calibri"/>
                        </a:rPr>
                        <a:t>Composant</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E4EEE7"/>
                    </a:solidFill>
                  </a:tcPr>
                </a:tc>
                <a:tc>
                  <a:txBody>
                    <a:bodyPr/>
                    <a:lstStyle/>
                    <a:p>
                      <a:pPr marL="0" indent="0">
                        <a:buNone/>
                      </a:pPr>
                      <a:r>
                        <a:rPr sz="1100" b="1">
                          <a:solidFill>
                            <a:srgbClr val="006B45"/>
                          </a:solidFill>
                          <a:latin typeface="Calibri"/>
                          <a:ea typeface="Calibri"/>
                          <a:cs typeface="Calibri"/>
                        </a:rPr>
                        <a:t>Connexion</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E4EEE7"/>
                    </a:solidFill>
                  </a:tcPr>
                </a:tc>
                <a:tc>
                  <a:txBody>
                    <a:bodyPr/>
                    <a:lstStyle/>
                    <a:p>
                      <a:pPr marL="0" indent="0">
                        <a:buNone/>
                      </a:pPr>
                      <a:r>
                        <a:rPr sz="1100" b="1">
                          <a:solidFill>
                            <a:srgbClr val="006B45"/>
                          </a:solidFill>
                          <a:latin typeface="Calibri"/>
                          <a:ea typeface="Calibri"/>
                          <a:cs typeface="Calibri"/>
                        </a:rPr>
                        <a:t>Fonction</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E4EEE7"/>
                    </a:solidFill>
                  </a:tcPr>
                </a:tc>
                <a:extLst>
                  <a:ext uri="{0D108BD9-81ED-4DB2-BD59-A6C34878D82A}">
                    <a16:rowId xmlns:a16="http://schemas.microsoft.com/office/drawing/2014/main" val="10000"/>
                  </a:ext>
                </a:extLst>
              </a:tr>
              <a:tr h="409575">
                <a:tc>
                  <a:txBody>
                    <a:bodyPr/>
                    <a:lstStyle/>
                    <a:p>
                      <a:pPr marL="0" indent="0">
                        <a:buNone/>
                      </a:pPr>
                      <a:r>
                        <a:rPr sz="1100" b="1">
                          <a:solidFill>
                            <a:srgbClr val="142820"/>
                          </a:solidFill>
                          <a:latin typeface="Calibri"/>
                          <a:ea typeface="Calibri"/>
                          <a:cs typeface="Calibri"/>
                        </a:rPr>
                        <a:t>DHT11</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D2</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Température et humidité de l’air</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1"/>
                  </a:ext>
                </a:extLst>
              </a:tr>
              <a:tr h="409575">
                <a:tc>
                  <a:txBody>
                    <a:bodyPr/>
                    <a:lstStyle/>
                    <a:p>
                      <a:pPr marL="0" indent="0">
                        <a:buNone/>
                      </a:pPr>
                      <a:r>
                        <a:rPr sz="1100" b="1">
                          <a:solidFill>
                            <a:srgbClr val="142820"/>
                          </a:solidFill>
                          <a:latin typeface="Calibri"/>
                          <a:ea typeface="Calibri"/>
                          <a:cs typeface="Calibri"/>
                        </a:rPr>
                        <a:t>Photorésistance</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A0</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Luminosité relative</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2"/>
                  </a:ext>
                </a:extLst>
              </a:tr>
              <a:tr h="409575">
                <a:tc>
                  <a:txBody>
                    <a:bodyPr/>
                    <a:lstStyle/>
                    <a:p>
                      <a:pPr marL="0" indent="0">
                        <a:buNone/>
                      </a:pPr>
                      <a:r>
                        <a:rPr sz="1100" b="1">
                          <a:solidFill>
                            <a:srgbClr val="142820"/>
                          </a:solidFill>
                          <a:latin typeface="Calibri"/>
                          <a:ea typeface="Calibri"/>
                          <a:cs typeface="Calibri"/>
                        </a:rPr>
                        <a:t>Sonde de niveau</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A1</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Niveau d’eau du réservoir</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3"/>
                  </a:ext>
                </a:extLst>
              </a:tr>
              <a:tr h="409575">
                <a:tc>
                  <a:txBody>
                    <a:bodyPr/>
                    <a:lstStyle/>
                    <a:p>
                      <a:pPr marL="0" indent="0">
                        <a:buNone/>
                      </a:pPr>
                      <a:r>
                        <a:rPr sz="1100" b="1">
                          <a:solidFill>
                            <a:srgbClr val="142820"/>
                          </a:solidFill>
                          <a:latin typeface="Calibri"/>
                          <a:ea typeface="Calibri"/>
                          <a:cs typeface="Calibri"/>
                        </a:rPr>
                        <a:t>LED</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D4</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Éclairage automatique ou manuel</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4"/>
                  </a:ext>
                </a:extLst>
              </a:tr>
              <a:tr h="409575">
                <a:tc>
                  <a:txBody>
                    <a:bodyPr/>
                    <a:lstStyle/>
                    <a:p>
                      <a:pPr marL="0" indent="0">
                        <a:buNone/>
                      </a:pPr>
                      <a:r>
                        <a:rPr sz="1100" b="1">
                          <a:solidFill>
                            <a:srgbClr val="142820"/>
                          </a:solidFill>
                          <a:latin typeface="Calibri"/>
                          <a:ea typeface="Calibri"/>
                          <a:cs typeface="Calibri"/>
                        </a:rPr>
                        <a:t>Arduino Yún</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Wi-Fi</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Lecture des capteurs et commande LED</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5"/>
                  </a:ext>
                </a:extLst>
              </a:tr>
              <a:tr h="409575">
                <a:tc>
                  <a:txBody>
                    <a:bodyPr/>
                    <a:lstStyle/>
                    <a:p>
                      <a:pPr marL="0" indent="0">
                        <a:buNone/>
                      </a:pPr>
                      <a:r>
                        <a:rPr sz="1100" b="1">
                          <a:solidFill>
                            <a:srgbClr val="142820"/>
                          </a:solidFill>
                          <a:latin typeface="Calibri"/>
                          <a:ea typeface="Calibri"/>
                          <a:cs typeface="Calibri"/>
                        </a:rPr>
                        <a:t>Raspberry Pi 3</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Réseau local</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API Python et stockage SQLite</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6"/>
                  </a:ext>
                </a:extLst>
              </a:tr>
              <a:tr h="409575">
                <a:tc>
                  <a:txBody>
                    <a:bodyPr/>
                    <a:lstStyle/>
                    <a:p>
                      <a:pPr marL="0" indent="0">
                        <a:buNone/>
                      </a:pPr>
                      <a:r>
                        <a:rPr sz="1100" b="1">
                          <a:solidFill>
                            <a:srgbClr val="142820"/>
                          </a:solidFill>
                          <a:latin typeface="Calibri"/>
                          <a:ea typeface="Calibri"/>
                          <a:cs typeface="Calibri"/>
                        </a:rPr>
                        <a:t>Navigateur</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955000"/>
                          </a:solidFill>
                          <a:latin typeface="Calibri"/>
                          <a:ea typeface="Calibri"/>
                          <a:cs typeface="Calibri"/>
                        </a:rPr>
                        <a:t>HTTP</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tc>
                  <a:txBody>
                    <a:bodyPr/>
                    <a:lstStyle/>
                    <a:p>
                      <a:pPr marL="0" indent="0">
                        <a:buNone/>
                      </a:pPr>
                      <a:r>
                        <a:rPr sz="1100">
                          <a:solidFill>
                            <a:srgbClr val="43574D"/>
                          </a:solidFill>
                          <a:latin typeface="Calibri"/>
                          <a:ea typeface="Calibri"/>
                          <a:cs typeface="Calibri"/>
                        </a:rPr>
                        <a:t>Tableau de bord, historique et alertes</a:t>
                      </a:r>
                      <a:endParaRPr sz="1100">
                        <a:latin typeface="Calibri"/>
                        <a:ea typeface="Calibri"/>
                        <a:cs typeface="Calibri"/>
                      </a:endParaRPr>
                    </a:p>
                  </a:txBody>
                  <a:tcPr marL="85725" marR="85725" marT="66675" marB="66675" anchor="ctr">
                    <a:lnL w="6350" cmpd="sng">
                      <a:solidFill>
                        <a:srgbClr val="B9CEC0"/>
                      </a:solidFill>
                      <a:prstDash val="solid"/>
                    </a:lnL>
                    <a:lnR w="6350" cmpd="sng">
                      <a:solidFill>
                        <a:srgbClr val="B9CEC0"/>
                      </a:solidFill>
                      <a:prstDash val="solid"/>
                    </a:lnR>
                    <a:lnT w="6350" cmpd="sng">
                      <a:solidFill>
                        <a:srgbClr val="B9CEC0"/>
                      </a:solidFill>
                      <a:prstDash val="solid"/>
                    </a:lnT>
                    <a:lnB w="6350" cmpd="sng">
                      <a:solidFill>
                        <a:srgbClr val="B9CEC0"/>
                      </a:solidFill>
                      <a:prstDash val="solid"/>
                    </a:lnB>
                    <a:solidFill>
                      <a:srgbClr val="F2F6F3"/>
                    </a:solidFill>
                  </a:tcPr>
                </a:tc>
                <a:extLst>
                  <a:ext uri="{0D108BD9-81ED-4DB2-BD59-A6C34878D82A}">
                    <a16:rowId xmlns:a16="http://schemas.microsoft.com/office/drawing/2014/main" val="10007"/>
                  </a:ext>
                </a:extLst>
              </a:tr>
            </a:tbl>
          </a:graphicData>
        </a:graphic>
      </p:graphicFrame>
      <p:sp>
        <p:nvSpPr>
          <p:cNvPr id="8" name="Text 3">
            <a:extLst>
              <a:ext uri="{FF2B5EF4-FFF2-40B4-BE49-F238E27FC236}">
                <a16:creationId xmlns:a16="http://schemas.microsoft.com/office/drawing/2014/main" id="{AAD656F0-0355-4C86-8C85-0AECA9EA6027}"/>
              </a:ext>
            </a:extLst>
          </p:cNvPr>
          <p:cNvSpPr>
            <a:spLocks noGrp="1"/>
          </p:cNvSpPr>
          <p:nvPr/>
        </p:nvSpPr>
        <p:spPr>
          <a:xfrm>
            <a:off x="3381375" y="4552950"/>
            <a:ext cx="5305425" cy="190500"/>
          </a:xfrm>
          <a:prstGeom prst="rect">
            <a:avLst/>
          </a:prstGeom>
          <a:noFill/>
        </p:spPr>
        <p:txBody>
          <a:bodyPr wrap="square" lIns="0" tIns="0" rIns="0" bIns="0" anchor="t"/>
          <a:lstStyle/>
          <a:p>
            <a:pPr marL="0" indent="0">
              <a:buNone/>
            </a:pPr>
            <a:r>
              <a:rPr sz="1100" i="1">
                <a:solidFill>
                  <a:srgbClr val="43574D"/>
                </a:solidFill>
                <a:latin typeface="Calibri"/>
                <a:ea typeface="Calibri"/>
                <a:cs typeface="Calibri"/>
              </a:rPr>
              <a:t>Arduino Yún + Raspberry Pi 3 · alimentation 5 V · masses communes</a:t>
            </a:r>
            <a:endParaRPr sz="1100"/>
          </a:p>
        </p:txBody>
      </p:sp>
      <p:pic>
        <p:nvPicPr>
          <p:cNvPr id="2" name="Image 0"/>
          <p:cNvPicPr>
            <a:picLocks noChangeAspect="1"/>
          </p:cNvPicPr>
          <p:nvPr/>
        </p:nvPicPr>
        <p:blipFill>
          <a:blip r:embed="rId3"/>
          <a:srcRect/>
          <a:stretch/>
        </p:blipFill>
        <p:spPr>
          <a:xfrm>
            <a:off x="457200" y="1234440"/>
            <a:ext cx="2651760" cy="3383280"/>
          </a:xfrm>
          <a:prstGeom prst="rect">
            <a:avLst/>
          </a:prstGeom>
        </p:spPr>
      </p:pic>
    </p:spTree>
    <p:extLst>
      <p:ext uri="{BB962C8B-B14F-4D97-AF65-F5344CB8AC3E}">
        <p14:creationId xmlns:p14="http://schemas.microsoft.com/office/powerpoint/2010/main" val="1773231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48A5C74-1C55-4A4A-B936-26DA4E990FC6}"/>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LE CODE</a:t>
            </a:r>
            <a:endParaRPr sz="1000"/>
          </a:p>
        </p:txBody>
      </p:sp>
      <p:sp>
        <p:nvSpPr>
          <p:cNvPr id="4" name="Text 1">
            <a:extLst>
              <a:ext uri="{FF2B5EF4-FFF2-40B4-BE49-F238E27FC236}">
                <a16:creationId xmlns:a16="http://schemas.microsoft.com/office/drawing/2014/main" id="{F7032474-3067-45C8-B161-364F2313FB67}"/>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Du capteur au tableau de bord</a:t>
            </a:r>
            <a:endParaRPr sz="2800"/>
          </a:p>
        </p:txBody>
      </p:sp>
      <p:sp>
        <p:nvSpPr>
          <p:cNvPr id="5" name="Text 2">
            <a:extLst>
              <a:ext uri="{FF2B5EF4-FFF2-40B4-BE49-F238E27FC236}">
                <a16:creationId xmlns:a16="http://schemas.microsoft.com/office/drawing/2014/main" id="{A1F41A52-413A-4186-BC84-8ABC49F0085D}"/>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6 / 12</a:t>
            </a:r>
            <a:endParaRPr sz="900"/>
          </a:p>
        </p:txBody>
      </p:sp>
      <p:sp>
        <p:nvSpPr>
          <p:cNvPr id="6" name="Shape 3">
            <a:extLst>
              <a:ext uri="{FF2B5EF4-FFF2-40B4-BE49-F238E27FC236}">
                <a16:creationId xmlns:a16="http://schemas.microsoft.com/office/drawing/2014/main" id="{BB825064-B7DC-4A50-8C57-A47AFA9ACD8B}"/>
              </a:ext>
            </a:extLst>
          </p:cNvPr>
          <p:cNvSpPr>
            <a:spLocks noGrp="1"/>
          </p:cNvSpPr>
          <p:nvPr/>
        </p:nvSpPr>
        <p:spPr>
          <a:xfrm>
            <a:off x="457200" y="1234440"/>
            <a:ext cx="2606040" cy="3383280"/>
          </a:xfrm>
          <a:prstGeom prst="roundRect">
            <a:avLst>
              <a:gd name="adj" fmla="val 2807"/>
            </a:avLst>
          </a:prstGeom>
          <a:noFill/>
          <a:ln w="0">
            <a:noFill/>
          </a:ln>
        </p:spPr>
        <p:txBody>
          <a:bodyPr/>
          <a:lstStyle/>
          <a:p>
            <a:endParaRPr lang="fr-FR"/>
          </a:p>
        </p:txBody>
      </p:sp>
      <p:sp>
        <p:nvSpPr>
          <p:cNvPr id="7" name="Shape 4">
            <a:extLst>
              <a:ext uri="{FF2B5EF4-FFF2-40B4-BE49-F238E27FC236}">
                <a16:creationId xmlns:a16="http://schemas.microsoft.com/office/drawing/2014/main" id="{E18E1F2A-EF21-4989-BDCA-B69CDC269C38}"/>
              </a:ext>
            </a:extLst>
          </p:cNvPr>
          <p:cNvSpPr>
            <a:spLocks noGrp="1"/>
          </p:cNvSpPr>
          <p:nvPr/>
        </p:nvSpPr>
        <p:spPr>
          <a:xfrm>
            <a:off x="640080" y="1389888"/>
            <a:ext cx="384048" cy="384048"/>
          </a:xfrm>
          <a:prstGeom prst="ellipse">
            <a:avLst/>
          </a:prstGeom>
          <a:solidFill>
            <a:srgbClr val="E7F3EB"/>
          </a:solidFill>
          <a:ln w="15875">
            <a:solidFill>
              <a:srgbClr val="006B45"/>
            </a:solidFill>
            <a:prstDash val="solid"/>
          </a:ln>
        </p:spPr>
        <p:txBody>
          <a:bodyPr/>
          <a:lstStyle/>
          <a:p>
            <a:endParaRPr lang="fr-FR"/>
          </a:p>
        </p:txBody>
      </p:sp>
      <p:sp>
        <p:nvSpPr>
          <p:cNvPr id="8" name="Text 5">
            <a:extLst>
              <a:ext uri="{FF2B5EF4-FFF2-40B4-BE49-F238E27FC236}">
                <a16:creationId xmlns:a16="http://schemas.microsoft.com/office/drawing/2014/main" id="{EB029CF0-C4B4-4AE3-81CF-C6C06534F5A8}"/>
              </a:ext>
            </a:extLst>
          </p:cNvPr>
          <p:cNvSpPr>
            <a:spLocks noGrp="1"/>
          </p:cNvSpPr>
          <p:nvPr/>
        </p:nvSpPr>
        <p:spPr>
          <a:xfrm>
            <a:off x="640080" y="1389888"/>
            <a:ext cx="384048" cy="384048"/>
          </a:xfrm>
          <a:prstGeom prst="rect">
            <a:avLst/>
          </a:prstGeom>
          <a:noFill/>
        </p:spPr>
        <p:txBody>
          <a:bodyPr wrap="square" lIns="0" tIns="0" rIns="0" bIns="0" anchor="ctr"/>
          <a:lstStyle/>
          <a:p>
            <a:pPr marL="0" indent="0" algn="ctr">
              <a:buNone/>
            </a:pPr>
            <a:r>
              <a:rPr sz="924" b="1">
                <a:solidFill>
                  <a:srgbClr val="006B45"/>
                </a:solidFill>
                <a:latin typeface="Arial"/>
                <a:ea typeface="Arial"/>
                <a:cs typeface="Arial"/>
              </a:rPr>
              <a:t>1</a:t>
            </a:r>
            <a:endParaRPr sz="924"/>
          </a:p>
        </p:txBody>
      </p:sp>
      <p:sp>
        <p:nvSpPr>
          <p:cNvPr id="9" name="Text 6">
            <a:extLst>
              <a:ext uri="{FF2B5EF4-FFF2-40B4-BE49-F238E27FC236}">
                <a16:creationId xmlns:a16="http://schemas.microsoft.com/office/drawing/2014/main" id="{7AF581EF-27C6-444B-BFF6-102434E4A562}"/>
              </a:ext>
            </a:extLst>
          </p:cNvPr>
          <p:cNvSpPr>
            <a:spLocks noGrp="1"/>
          </p:cNvSpPr>
          <p:nvPr/>
        </p:nvSpPr>
        <p:spPr>
          <a:xfrm>
            <a:off x="1115568" y="1371600"/>
            <a:ext cx="1828800" cy="228600"/>
          </a:xfrm>
          <a:prstGeom prst="rect">
            <a:avLst/>
          </a:prstGeom>
          <a:noFill/>
        </p:spPr>
        <p:txBody>
          <a:bodyPr wrap="square" lIns="0" tIns="0" rIns="0" bIns="0" anchor="t"/>
          <a:lstStyle/>
          <a:p>
            <a:pPr marL="0" indent="0">
              <a:buNone/>
            </a:pPr>
            <a:r>
              <a:rPr sz="1200" b="1">
                <a:solidFill>
                  <a:srgbClr val="142820"/>
                </a:solidFill>
                <a:latin typeface="Calibri"/>
                <a:ea typeface="Calibri"/>
                <a:cs typeface="Calibri"/>
              </a:rPr>
              <a:t>C++ · Arduino</a:t>
            </a:r>
            <a:endParaRPr sz="1200"/>
          </a:p>
        </p:txBody>
      </p:sp>
      <p:sp>
        <p:nvSpPr>
          <p:cNvPr id="10" name="Text 7">
            <a:extLst>
              <a:ext uri="{FF2B5EF4-FFF2-40B4-BE49-F238E27FC236}">
                <a16:creationId xmlns:a16="http://schemas.microsoft.com/office/drawing/2014/main" id="{CAB1F765-B8FD-4BA9-86C6-64EAE8A2E1E6}"/>
              </a:ext>
            </a:extLst>
          </p:cNvPr>
          <p:cNvSpPr>
            <a:spLocks noGrp="1"/>
          </p:cNvSpPr>
          <p:nvPr/>
        </p:nvSpPr>
        <p:spPr>
          <a:xfrm>
            <a:off x="1115568" y="1591056"/>
            <a:ext cx="1828800" cy="201168"/>
          </a:xfrm>
          <a:prstGeom prst="rect">
            <a:avLst/>
          </a:prstGeom>
          <a:noFill/>
        </p:spPr>
        <p:txBody>
          <a:bodyPr wrap="square" lIns="0" tIns="0" rIns="0" bIns="0" anchor="t"/>
          <a:lstStyle/>
          <a:p>
            <a:pPr marL="0" indent="0">
              <a:buNone/>
            </a:pPr>
            <a:r>
              <a:rPr sz="900">
                <a:solidFill>
                  <a:srgbClr val="43574D"/>
                </a:solidFill>
                <a:latin typeface="Courier New"/>
                <a:ea typeface="Courier New"/>
                <a:cs typeface="Courier New"/>
              </a:rPr>
              <a:t>SpaceFarm_Yun_WiFi.ino</a:t>
            </a:r>
            <a:endParaRPr sz="900"/>
          </a:p>
        </p:txBody>
      </p:sp>
      <p:sp>
        <p:nvSpPr>
          <p:cNvPr id="11" name="Shape 8">
            <a:extLst>
              <a:ext uri="{FF2B5EF4-FFF2-40B4-BE49-F238E27FC236}">
                <a16:creationId xmlns:a16="http://schemas.microsoft.com/office/drawing/2014/main" id="{29868E89-2EA1-4941-952C-56126CDDF8C6}"/>
              </a:ext>
            </a:extLst>
          </p:cNvPr>
          <p:cNvSpPr>
            <a:spLocks noGrp="1"/>
          </p:cNvSpPr>
          <p:nvPr/>
        </p:nvSpPr>
        <p:spPr>
          <a:xfrm>
            <a:off x="594360" y="1920240"/>
            <a:ext cx="2331720" cy="1691640"/>
          </a:xfrm>
          <a:prstGeom prst="roundRect">
            <a:avLst>
              <a:gd name="adj" fmla="val 2703"/>
            </a:avLst>
          </a:prstGeom>
          <a:solidFill>
            <a:srgbClr val="F2F6F3"/>
          </a:solidFill>
          <a:ln w="6350">
            <a:solidFill>
              <a:srgbClr val="B9CEC0"/>
            </a:solidFill>
            <a:prstDash val="solid"/>
          </a:ln>
        </p:spPr>
        <p:txBody>
          <a:bodyPr/>
          <a:lstStyle/>
          <a:p>
            <a:endParaRPr lang="fr-FR"/>
          </a:p>
        </p:txBody>
      </p:sp>
      <p:sp>
        <p:nvSpPr>
          <p:cNvPr id="12" name="Text 9">
            <a:extLst>
              <a:ext uri="{FF2B5EF4-FFF2-40B4-BE49-F238E27FC236}">
                <a16:creationId xmlns:a16="http://schemas.microsoft.com/office/drawing/2014/main" id="{AFB9C5CB-A5B0-4D12-AF1D-A4C290AEDE25}"/>
              </a:ext>
            </a:extLst>
          </p:cNvPr>
          <p:cNvSpPr>
            <a:spLocks noGrp="1"/>
          </p:cNvSpPr>
          <p:nvPr/>
        </p:nvSpPr>
        <p:spPr>
          <a:xfrm>
            <a:off x="704088" y="2011680"/>
            <a:ext cx="2148840" cy="1554480"/>
          </a:xfrm>
          <a:prstGeom prst="rect">
            <a:avLst/>
          </a:prstGeom>
          <a:noFill/>
        </p:spPr>
        <p:txBody>
          <a:bodyPr wrap="square" lIns="0" tIns="0" rIns="0" bIns="0" anchor="t"/>
          <a:lstStyle/>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{"sensor":"spacefarm-yun",</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 "readings":{</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  "temperature":23.9,</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  "humidity":58,</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  "light_raw":481,</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  "water_raw":0 }}</a:t>
            </a:r>
            <a:endParaRPr sz="950"/>
          </a:p>
        </p:txBody>
      </p:sp>
      <p:sp>
        <p:nvSpPr>
          <p:cNvPr id="13" name="Text 10">
            <a:extLst>
              <a:ext uri="{FF2B5EF4-FFF2-40B4-BE49-F238E27FC236}">
                <a16:creationId xmlns:a16="http://schemas.microsoft.com/office/drawing/2014/main" id="{43A6B2AD-023B-485C-A694-6DABC33E0891}"/>
              </a:ext>
            </a:extLst>
          </p:cNvPr>
          <p:cNvSpPr>
            <a:spLocks noGrp="1"/>
          </p:cNvSpPr>
          <p:nvPr/>
        </p:nvSpPr>
        <p:spPr>
          <a:xfrm>
            <a:off x="640080" y="3721608"/>
            <a:ext cx="2240280" cy="822960"/>
          </a:xfrm>
          <a:prstGeom prst="rect">
            <a:avLst/>
          </a:prstGeom>
          <a:noFill/>
        </p:spPr>
        <p:txBody>
          <a:bodyPr wrap="square" lIns="0" tIns="0" rIns="0" bIns="0" anchor="t"/>
          <a:lstStyle/>
          <a:p>
            <a:pPr marL="0" indent="0">
              <a:buNone/>
              <a:defRPr sz="1275">
                <a:solidFill>
                  <a:srgbClr val="142820"/>
                </a:solidFill>
              </a:defRPr>
            </a:pPr>
            <a:r>
              <a:rPr sz="1275">
                <a:solidFill>
                  <a:srgbClr val="142820"/>
                </a:solidFill>
                <a:latin typeface="Calibri"/>
                <a:ea typeface="Calibri"/>
                <a:cs typeface="Calibri"/>
              </a:rPr>
              <a:t>La Yún envoie ses mesures au Pi toutes les 2 secondes.</a:t>
            </a:r>
            <a:endParaRPr sz="1150"/>
          </a:p>
        </p:txBody>
      </p:sp>
      <p:sp>
        <p:nvSpPr>
          <p:cNvPr id="14" name="Shape 11">
            <a:extLst>
              <a:ext uri="{FF2B5EF4-FFF2-40B4-BE49-F238E27FC236}">
                <a16:creationId xmlns:a16="http://schemas.microsoft.com/office/drawing/2014/main" id="{FE230BD7-00E7-434A-B7E0-55E7AB05A23D}"/>
              </a:ext>
            </a:extLst>
          </p:cNvPr>
          <p:cNvSpPr>
            <a:spLocks noGrp="1"/>
          </p:cNvSpPr>
          <p:nvPr/>
        </p:nvSpPr>
        <p:spPr>
          <a:xfrm>
            <a:off x="3264408" y="1234440"/>
            <a:ext cx="2606040" cy="3383280"/>
          </a:xfrm>
          <a:prstGeom prst="roundRect">
            <a:avLst>
              <a:gd name="adj" fmla="val 2807"/>
            </a:avLst>
          </a:prstGeom>
          <a:noFill/>
          <a:ln w="0">
            <a:noFill/>
          </a:ln>
        </p:spPr>
        <p:txBody>
          <a:bodyPr/>
          <a:lstStyle/>
          <a:p>
            <a:endParaRPr lang="fr-FR"/>
          </a:p>
        </p:txBody>
      </p:sp>
      <p:sp>
        <p:nvSpPr>
          <p:cNvPr id="15" name="Shape 12">
            <a:extLst>
              <a:ext uri="{FF2B5EF4-FFF2-40B4-BE49-F238E27FC236}">
                <a16:creationId xmlns:a16="http://schemas.microsoft.com/office/drawing/2014/main" id="{1B1BBB06-C098-4A65-8D11-AFA4E1E4C5BB}"/>
              </a:ext>
            </a:extLst>
          </p:cNvPr>
          <p:cNvSpPr>
            <a:spLocks noGrp="1"/>
          </p:cNvSpPr>
          <p:nvPr/>
        </p:nvSpPr>
        <p:spPr>
          <a:xfrm>
            <a:off x="3447288" y="1389888"/>
            <a:ext cx="384048" cy="384048"/>
          </a:xfrm>
          <a:prstGeom prst="ellipse">
            <a:avLst/>
          </a:prstGeom>
          <a:solidFill>
            <a:srgbClr val="E7F3EB"/>
          </a:solidFill>
          <a:ln w="15875">
            <a:solidFill>
              <a:srgbClr val="006B45"/>
            </a:solidFill>
            <a:prstDash val="solid"/>
          </a:ln>
        </p:spPr>
        <p:txBody>
          <a:bodyPr/>
          <a:lstStyle/>
          <a:p>
            <a:endParaRPr lang="fr-FR"/>
          </a:p>
        </p:txBody>
      </p:sp>
      <p:sp>
        <p:nvSpPr>
          <p:cNvPr id="16" name="Text 13">
            <a:extLst>
              <a:ext uri="{FF2B5EF4-FFF2-40B4-BE49-F238E27FC236}">
                <a16:creationId xmlns:a16="http://schemas.microsoft.com/office/drawing/2014/main" id="{AC38BB1C-2629-4E0D-BD96-ED6980A76338}"/>
              </a:ext>
            </a:extLst>
          </p:cNvPr>
          <p:cNvSpPr>
            <a:spLocks noGrp="1"/>
          </p:cNvSpPr>
          <p:nvPr/>
        </p:nvSpPr>
        <p:spPr>
          <a:xfrm>
            <a:off x="3447288" y="1389888"/>
            <a:ext cx="384048" cy="384048"/>
          </a:xfrm>
          <a:prstGeom prst="rect">
            <a:avLst/>
          </a:prstGeom>
          <a:noFill/>
        </p:spPr>
        <p:txBody>
          <a:bodyPr wrap="square" lIns="0" tIns="0" rIns="0" bIns="0" anchor="ctr"/>
          <a:lstStyle/>
          <a:p>
            <a:pPr marL="0" indent="0" algn="ctr">
              <a:buNone/>
            </a:pPr>
            <a:r>
              <a:rPr sz="924" b="1">
                <a:solidFill>
                  <a:srgbClr val="006B45"/>
                </a:solidFill>
                <a:latin typeface="Arial"/>
                <a:ea typeface="Arial"/>
                <a:cs typeface="Arial"/>
              </a:rPr>
              <a:t>2</a:t>
            </a:r>
            <a:endParaRPr sz="924"/>
          </a:p>
        </p:txBody>
      </p:sp>
      <p:sp>
        <p:nvSpPr>
          <p:cNvPr id="17" name="Text 14">
            <a:extLst>
              <a:ext uri="{FF2B5EF4-FFF2-40B4-BE49-F238E27FC236}">
                <a16:creationId xmlns:a16="http://schemas.microsoft.com/office/drawing/2014/main" id="{05740DE6-7FCA-4D0B-B643-18A26326ACD1}"/>
              </a:ext>
            </a:extLst>
          </p:cNvPr>
          <p:cNvSpPr>
            <a:spLocks noGrp="1"/>
          </p:cNvSpPr>
          <p:nvPr/>
        </p:nvSpPr>
        <p:spPr>
          <a:xfrm>
            <a:off x="3922776" y="1371600"/>
            <a:ext cx="1828800" cy="228600"/>
          </a:xfrm>
          <a:prstGeom prst="rect">
            <a:avLst/>
          </a:prstGeom>
          <a:noFill/>
        </p:spPr>
        <p:txBody>
          <a:bodyPr wrap="square" lIns="0" tIns="0" rIns="0" bIns="0" anchor="t"/>
          <a:lstStyle/>
          <a:p>
            <a:pPr marL="0" indent="0">
              <a:buNone/>
            </a:pPr>
            <a:r>
              <a:rPr sz="1200" b="1">
                <a:solidFill>
                  <a:srgbClr val="142820"/>
                </a:solidFill>
                <a:latin typeface="Calibri"/>
                <a:ea typeface="Calibri"/>
                <a:cs typeface="Calibri"/>
              </a:rPr>
              <a:t>Python · Raspberry Pi</a:t>
            </a:r>
            <a:endParaRPr sz="1200"/>
          </a:p>
        </p:txBody>
      </p:sp>
      <p:sp>
        <p:nvSpPr>
          <p:cNvPr id="18" name="Text 15">
            <a:extLst>
              <a:ext uri="{FF2B5EF4-FFF2-40B4-BE49-F238E27FC236}">
                <a16:creationId xmlns:a16="http://schemas.microsoft.com/office/drawing/2014/main" id="{B598ECBA-C3B0-4170-8E7A-0A535633FB70}"/>
              </a:ext>
            </a:extLst>
          </p:cNvPr>
          <p:cNvSpPr>
            <a:spLocks noGrp="1"/>
          </p:cNvSpPr>
          <p:nvPr/>
        </p:nvSpPr>
        <p:spPr>
          <a:xfrm>
            <a:off x="3922776" y="1591056"/>
            <a:ext cx="1828800" cy="201168"/>
          </a:xfrm>
          <a:prstGeom prst="rect">
            <a:avLst/>
          </a:prstGeom>
          <a:noFill/>
        </p:spPr>
        <p:txBody>
          <a:bodyPr wrap="square" lIns="0" tIns="0" rIns="0" bIns="0" anchor="t"/>
          <a:lstStyle/>
          <a:p>
            <a:pPr marL="0" indent="0">
              <a:buNone/>
            </a:pPr>
            <a:r>
              <a:rPr sz="900">
                <a:solidFill>
                  <a:srgbClr val="43574D"/>
                </a:solidFill>
                <a:latin typeface="Courier New"/>
                <a:ea typeface="Courier New"/>
                <a:cs typeface="Courier New"/>
              </a:rPr>
              <a:t>routes.py · db.py</a:t>
            </a:r>
            <a:endParaRPr sz="900"/>
          </a:p>
        </p:txBody>
      </p:sp>
      <p:sp>
        <p:nvSpPr>
          <p:cNvPr id="19" name="Shape 16">
            <a:extLst>
              <a:ext uri="{FF2B5EF4-FFF2-40B4-BE49-F238E27FC236}">
                <a16:creationId xmlns:a16="http://schemas.microsoft.com/office/drawing/2014/main" id="{12F18484-ABF4-4E57-9F25-A3633E6AEDCC}"/>
              </a:ext>
            </a:extLst>
          </p:cNvPr>
          <p:cNvSpPr>
            <a:spLocks noGrp="1"/>
          </p:cNvSpPr>
          <p:nvPr/>
        </p:nvSpPr>
        <p:spPr>
          <a:xfrm>
            <a:off x="3401568" y="1920240"/>
            <a:ext cx="2331720" cy="1691640"/>
          </a:xfrm>
          <a:prstGeom prst="roundRect">
            <a:avLst>
              <a:gd name="adj" fmla="val 2703"/>
            </a:avLst>
          </a:prstGeom>
          <a:solidFill>
            <a:srgbClr val="F2F6F3"/>
          </a:solidFill>
          <a:ln w="6350">
            <a:solidFill>
              <a:srgbClr val="B9CEC0"/>
            </a:solidFill>
            <a:prstDash val="solid"/>
          </a:ln>
        </p:spPr>
        <p:txBody>
          <a:bodyPr/>
          <a:lstStyle/>
          <a:p>
            <a:endParaRPr lang="fr-FR"/>
          </a:p>
        </p:txBody>
      </p:sp>
      <p:sp>
        <p:nvSpPr>
          <p:cNvPr id="20" name="Text 17">
            <a:extLst>
              <a:ext uri="{FF2B5EF4-FFF2-40B4-BE49-F238E27FC236}">
                <a16:creationId xmlns:a16="http://schemas.microsoft.com/office/drawing/2014/main" id="{1DCE5DF1-8911-4439-914B-63BFA193BB26}"/>
              </a:ext>
            </a:extLst>
          </p:cNvPr>
          <p:cNvSpPr>
            <a:spLocks noGrp="1"/>
          </p:cNvSpPr>
          <p:nvPr/>
        </p:nvSpPr>
        <p:spPr>
          <a:xfrm>
            <a:off x="3511296" y="2011680"/>
            <a:ext cx="2148840" cy="1554480"/>
          </a:xfrm>
          <a:prstGeom prst="rect">
            <a:avLst/>
          </a:prstGeom>
          <a:noFill/>
        </p:spPr>
        <p:txBody>
          <a:bodyPr wrap="square" lIns="0" tIns="0" rIns="0" bIns="0" anchor="t"/>
          <a:lstStyle/>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POST /api/ingest</a:t>
            </a:r>
            <a:endParaRPr sz="950"/>
          </a:p>
          <a:p>
            <a:pPr marL="0" indent="0">
              <a:buNone/>
            </a:pP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Valider le JSON</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Enregistrer dans SQLite</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Traiter les commandes</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Répondre : HTTP 201</a:t>
            </a:r>
            <a:endParaRPr sz="950"/>
          </a:p>
        </p:txBody>
      </p:sp>
      <p:sp>
        <p:nvSpPr>
          <p:cNvPr id="21" name="Text 18">
            <a:extLst>
              <a:ext uri="{FF2B5EF4-FFF2-40B4-BE49-F238E27FC236}">
                <a16:creationId xmlns:a16="http://schemas.microsoft.com/office/drawing/2014/main" id="{81A8EB03-B2E5-4D70-9771-3A6575D556FC}"/>
              </a:ext>
            </a:extLst>
          </p:cNvPr>
          <p:cNvSpPr>
            <a:spLocks noGrp="1"/>
          </p:cNvSpPr>
          <p:nvPr/>
        </p:nvSpPr>
        <p:spPr>
          <a:xfrm>
            <a:off x="3447288" y="3721608"/>
            <a:ext cx="2240280" cy="822960"/>
          </a:xfrm>
          <a:prstGeom prst="rect">
            <a:avLst/>
          </a:prstGeom>
          <a:noFill/>
        </p:spPr>
        <p:txBody>
          <a:bodyPr wrap="square" lIns="0" tIns="0" rIns="0" bIns="0" anchor="t"/>
          <a:lstStyle/>
          <a:p>
            <a:pPr marL="0" indent="0">
              <a:buNone/>
              <a:defRPr sz="1275">
                <a:solidFill>
                  <a:srgbClr val="142820"/>
                </a:solidFill>
              </a:defRPr>
            </a:pPr>
            <a:r>
              <a:rPr sz="1275">
                <a:solidFill>
                  <a:srgbClr val="142820"/>
                </a:solidFill>
                <a:latin typeface="Calibri"/>
                <a:ea typeface="Calibri"/>
                <a:cs typeface="Calibri"/>
              </a:rPr>
              <a:t>Le Pi enregistre les mesures et renvoie la commande éventuelle.</a:t>
            </a:r>
            <a:endParaRPr sz="1150"/>
          </a:p>
        </p:txBody>
      </p:sp>
      <p:sp>
        <p:nvSpPr>
          <p:cNvPr id="22" name="Shape 19">
            <a:extLst>
              <a:ext uri="{FF2B5EF4-FFF2-40B4-BE49-F238E27FC236}">
                <a16:creationId xmlns:a16="http://schemas.microsoft.com/office/drawing/2014/main" id="{16C8C91E-35FF-47E1-B2F1-D832C7D3BEE0}"/>
              </a:ext>
            </a:extLst>
          </p:cNvPr>
          <p:cNvSpPr>
            <a:spLocks noGrp="1"/>
          </p:cNvSpPr>
          <p:nvPr/>
        </p:nvSpPr>
        <p:spPr>
          <a:xfrm>
            <a:off x="6071616" y="1234440"/>
            <a:ext cx="2606040" cy="3383280"/>
          </a:xfrm>
          <a:prstGeom prst="roundRect">
            <a:avLst>
              <a:gd name="adj" fmla="val 2807"/>
            </a:avLst>
          </a:prstGeom>
          <a:noFill/>
          <a:ln w="0">
            <a:noFill/>
          </a:ln>
        </p:spPr>
        <p:txBody>
          <a:bodyPr/>
          <a:lstStyle/>
          <a:p>
            <a:endParaRPr lang="fr-FR"/>
          </a:p>
        </p:txBody>
      </p:sp>
      <p:sp>
        <p:nvSpPr>
          <p:cNvPr id="23" name="Shape 20">
            <a:extLst>
              <a:ext uri="{FF2B5EF4-FFF2-40B4-BE49-F238E27FC236}">
                <a16:creationId xmlns:a16="http://schemas.microsoft.com/office/drawing/2014/main" id="{199F6E7B-8A13-40C1-B972-D0860E5FCCBC}"/>
              </a:ext>
            </a:extLst>
          </p:cNvPr>
          <p:cNvSpPr>
            <a:spLocks noGrp="1"/>
          </p:cNvSpPr>
          <p:nvPr/>
        </p:nvSpPr>
        <p:spPr>
          <a:xfrm>
            <a:off x="6254496" y="1389888"/>
            <a:ext cx="384048" cy="384048"/>
          </a:xfrm>
          <a:prstGeom prst="ellipse">
            <a:avLst/>
          </a:prstGeom>
          <a:solidFill>
            <a:srgbClr val="E7F3EB"/>
          </a:solidFill>
          <a:ln w="15875">
            <a:solidFill>
              <a:srgbClr val="006B45"/>
            </a:solidFill>
            <a:prstDash val="solid"/>
          </a:ln>
        </p:spPr>
        <p:txBody>
          <a:bodyPr/>
          <a:lstStyle/>
          <a:p>
            <a:endParaRPr lang="fr-FR"/>
          </a:p>
        </p:txBody>
      </p:sp>
      <p:sp>
        <p:nvSpPr>
          <p:cNvPr id="24" name="Text 21">
            <a:extLst>
              <a:ext uri="{FF2B5EF4-FFF2-40B4-BE49-F238E27FC236}">
                <a16:creationId xmlns:a16="http://schemas.microsoft.com/office/drawing/2014/main" id="{F150821E-E778-44BE-B0A0-3443C76284C4}"/>
              </a:ext>
            </a:extLst>
          </p:cNvPr>
          <p:cNvSpPr>
            <a:spLocks noGrp="1"/>
          </p:cNvSpPr>
          <p:nvPr/>
        </p:nvSpPr>
        <p:spPr>
          <a:xfrm>
            <a:off x="6254496" y="1389888"/>
            <a:ext cx="384048" cy="384048"/>
          </a:xfrm>
          <a:prstGeom prst="rect">
            <a:avLst/>
          </a:prstGeom>
          <a:noFill/>
        </p:spPr>
        <p:txBody>
          <a:bodyPr wrap="square" lIns="0" tIns="0" rIns="0" bIns="0" anchor="ctr"/>
          <a:lstStyle/>
          <a:p>
            <a:pPr marL="0" indent="0" algn="ctr">
              <a:buNone/>
            </a:pPr>
            <a:r>
              <a:rPr sz="924" b="1">
                <a:solidFill>
                  <a:srgbClr val="006B45"/>
                </a:solidFill>
                <a:latin typeface="Arial"/>
                <a:ea typeface="Arial"/>
                <a:cs typeface="Arial"/>
              </a:rPr>
              <a:t>3</a:t>
            </a:r>
            <a:endParaRPr sz="924"/>
          </a:p>
        </p:txBody>
      </p:sp>
      <p:sp>
        <p:nvSpPr>
          <p:cNvPr id="25" name="Text 22">
            <a:extLst>
              <a:ext uri="{FF2B5EF4-FFF2-40B4-BE49-F238E27FC236}">
                <a16:creationId xmlns:a16="http://schemas.microsoft.com/office/drawing/2014/main" id="{15EAC1CC-D810-4A83-8AB7-A3619445548C}"/>
              </a:ext>
            </a:extLst>
          </p:cNvPr>
          <p:cNvSpPr>
            <a:spLocks noGrp="1"/>
          </p:cNvSpPr>
          <p:nvPr/>
        </p:nvSpPr>
        <p:spPr>
          <a:xfrm>
            <a:off x="6729984" y="1371600"/>
            <a:ext cx="1828800" cy="228600"/>
          </a:xfrm>
          <a:prstGeom prst="rect">
            <a:avLst/>
          </a:prstGeom>
          <a:noFill/>
        </p:spPr>
        <p:txBody>
          <a:bodyPr wrap="square" lIns="0" tIns="0" rIns="0" bIns="0" anchor="t"/>
          <a:lstStyle/>
          <a:p>
            <a:pPr marL="0" indent="0">
              <a:buNone/>
            </a:pPr>
            <a:r>
              <a:rPr sz="1200" b="1">
                <a:solidFill>
                  <a:srgbClr val="142820"/>
                </a:solidFill>
                <a:latin typeface="Calibri"/>
                <a:ea typeface="Calibri"/>
                <a:cs typeface="Calibri"/>
              </a:rPr>
              <a:t>React · TypeScript</a:t>
            </a:r>
            <a:endParaRPr sz="1200"/>
          </a:p>
        </p:txBody>
      </p:sp>
      <p:sp>
        <p:nvSpPr>
          <p:cNvPr id="26" name="Text 23">
            <a:extLst>
              <a:ext uri="{FF2B5EF4-FFF2-40B4-BE49-F238E27FC236}">
                <a16:creationId xmlns:a16="http://schemas.microsoft.com/office/drawing/2014/main" id="{3ACB361A-ACB1-4016-8263-86B7355AA5C8}"/>
              </a:ext>
            </a:extLst>
          </p:cNvPr>
          <p:cNvSpPr>
            <a:spLocks noGrp="1"/>
          </p:cNvSpPr>
          <p:nvPr/>
        </p:nvSpPr>
        <p:spPr>
          <a:xfrm>
            <a:off x="6729984" y="1591056"/>
            <a:ext cx="1828800" cy="201168"/>
          </a:xfrm>
          <a:prstGeom prst="rect">
            <a:avLst/>
          </a:prstGeom>
          <a:noFill/>
        </p:spPr>
        <p:txBody>
          <a:bodyPr wrap="square" lIns="0" tIns="0" rIns="0" bIns="0" anchor="t"/>
          <a:lstStyle/>
          <a:p>
            <a:pPr marL="0" indent="0">
              <a:buNone/>
            </a:pPr>
            <a:r>
              <a:rPr sz="900">
                <a:solidFill>
                  <a:srgbClr val="43574D"/>
                </a:solidFill>
                <a:latin typeface="Courier New"/>
                <a:ea typeface="Courier New"/>
                <a:cs typeface="Courier New"/>
              </a:rPr>
              <a:t>App.tsx · provider.ts</a:t>
            </a:r>
            <a:endParaRPr sz="900"/>
          </a:p>
        </p:txBody>
      </p:sp>
      <p:sp>
        <p:nvSpPr>
          <p:cNvPr id="27" name="Shape 24">
            <a:extLst>
              <a:ext uri="{FF2B5EF4-FFF2-40B4-BE49-F238E27FC236}">
                <a16:creationId xmlns:a16="http://schemas.microsoft.com/office/drawing/2014/main" id="{9E119DCE-3D63-426E-9392-1A32FFAA7257}"/>
              </a:ext>
            </a:extLst>
          </p:cNvPr>
          <p:cNvSpPr>
            <a:spLocks noGrp="1"/>
          </p:cNvSpPr>
          <p:nvPr/>
        </p:nvSpPr>
        <p:spPr>
          <a:xfrm>
            <a:off x="6208776" y="1920240"/>
            <a:ext cx="2331720" cy="1691640"/>
          </a:xfrm>
          <a:prstGeom prst="roundRect">
            <a:avLst>
              <a:gd name="adj" fmla="val 2703"/>
            </a:avLst>
          </a:prstGeom>
          <a:solidFill>
            <a:srgbClr val="F2F6F3"/>
          </a:solidFill>
          <a:ln w="6350">
            <a:solidFill>
              <a:srgbClr val="B9CEC0"/>
            </a:solidFill>
            <a:prstDash val="solid"/>
          </a:ln>
        </p:spPr>
        <p:txBody>
          <a:bodyPr/>
          <a:lstStyle/>
          <a:p>
            <a:endParaRPr lang="fr-FR"/>
          </a:p>
        </p:txBody>
      </p:sp>
      <p:sp>
        <p:nvSpPr>
          <p:cNvPr id="28" name="Text 25">
            <a:extLst>
              <a:ext uri="{FF2B5EF4-FFF2-40B4-BE49-F238E27FC236}">
                <a16:creationId xmlns:a16="http://schemas.microsoft.com/office/drawing/2014/main" id="{6740492E-E709-4204-9818-4D1BE86F0195}"/>
              </a:ext>
            </a:extLst>
          </p:cNvPr>
          <p:cNvSpPr>
            <a:spLocks noGrp="1"/>
          </p:cNvSpPr>
          <p:nvPr/>
        </p:nvSpPr>
        <p:spPr>
          <a:xfrm>
            <a:off x="6318504" y="2011680"/>
            <a:ext cx="2148840" cy="1554480"/>
          </a:xfrm>
          <a:prstGeom prst="rect">
            <a:avLst/>
          </a:prstGeom>
          <a:noFill/>
        </p:spPr>
        <p:txBody>
          <a:bodyPr wrap="square" lIns="0" tIns="0" rIns="0" bIns="0" anchor="t"/>
          <a:lstStyle/>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GET /api/state</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Toutes les 3 secondes</a:t>
            </a:r>
            <a:endParaRPr sz="950"/>
          </a:p>
          <a:p>
            <a:pPr marL="0" indent="0">
              <a:buNone/>
            </a:pP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Validation avec Zod</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Mesures et courbes</a:t>
            </a:r>
            <a:endParaRPr sz="950"/>
          </a:p>
          <a:p>
            <a:pPr marL="0" indent="0">
              <a:buNone/>
              <a:defRPr sz="1050">
                <a:solidFill>
                  <a:srgbClr val="006B45"/>
                </a:solidFill>
                <a:latin typeface="Consolas"/>
                <a:ea typeface="Consolas"/>
                <a:cs typeface="Consolas"/>
              </a:defRPr>
            </a:pPr>
            <a:r>
              <a:rPr sz="1050">
                <a:solidFill>
                  <a:srgbClr val="006B45"/>
                </a:solidFill>
                <a:latin typeface="Consolas"/>
                <a:ea typeface="Consolas"/>
                <a:cs typeface="Consolas"/>
              </a:rPr>
              <a:t>Affichage des alertes</a:t>
            </a:r>
            <a:endParaRPr sz="950"/>
          </a:p>
        </p:txBody>
      </p:sp>
      <p:sp>
        <p:nvSpPr>
          <p:cNvPr id="29" name="Text 26">
            <a:extLst>
              <a:ext uri="{FF2B5EF4-FFF2-40B4-BE49-F238E27FC236}">
                <a16:creationId xmlns:a16="http://schemas.microsoft.com/office/drawing/2014/main" id="{42E451E1-47FA-44E9-B8EA-8E933F66F967}"/>
              </a:ext>
            </a:extLst>
          </p:cNvPr>
          <p:cNvSpPr>
            <a:spLocks noGrp="1"/>
          </p:cNvSpPr>
          <p:nvPr/>
        </p:nvSpPr>
        <p:spPr>
          <a:xfrm>
            <a:off x="6254496" y="3721608"/>
            <a:ext cx="2240280" cy="822960"/>
          </a:xfrm>
          <a:prstGeom prst="rect">
            <a:avLst/>
          </a:prstGeom>
          <a:noFill/>
        </p:spPr>
        <p:txBody>
          <a:bodyPr wrap="square" lIns="0" tIns="0" rIns="0" bIns="0" anchor="t"/>
          <a:lstStyle/>
          <a:p>
            <a:pPr marL="0" indent="0">
              <a:buNone/>
              <a:defRPr sz="1275">
                <a:solidFill>
                  <a:srgbClr val="142820"/>
                </a:solidFill>
              </a:defRPr>
            </a:pPr>
            <a:r>
              <a:rPr sz="1275">
                <a:solidFill>
                  <a:srgbClr val="142820"/>
                </a:solidFill>
                <a:latin typeface="Calibri"/>
                <a:ea typeface="Calibri"/>
                <a:cs typeface="Calibri"/>
              </a:rPr>
              <a:t>Le site actualise les données et signale la perte de connexion.</a:t>
            </a:r>
            <a:endParaRPr sz="1150"/>
          </a:p>
        </p:txBody>
      </p:sp>
    </p:spTree>
    <p:extLst>
      <p:ext uri="{BB962C8B-B14F-4D97-AF65-F5344CB8AC3E}">
        <p14:creationId xmlns:p14="http://schemas.microsoft.com/office/powerpoint/2010/main" val="207589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8E5BDAD-E1C9-4D34-B217-3564B23D1D5C}"/>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DÉMONSTRATION</a:t>
            </a:r>
            <a:endParaRPr sz="1000"/>
          </a:p>
        </p:txBody>
      </p:sp>
      <p:sp>
        <p:nvSpPr>
          <p:cNvPr id="4" name="Text 1">
            <a:extLst>
              <a:ext uri="{FF2B5EF4-FFF2-40B4-BE49-F238E27FC236}">
                <a16:creationId xmlns:a16="http://schemas.microsoft.com/office/drawing/2014/main" id="{11C0877E-BA30-456C-8F66-AC1812AA08CB}"/>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Le tableau de bord du prototype</a:t>
            </a:r>
            <a:endParaRPr sz="2800"/>
          </a:p>
        </p:txBody>
      </p:sp>
      <p:sp>
        <p:nvSpPr>
          <p:cNvPr id="5" name="Text 2">
            <a:extLst>
              <a:ext uri="{FF2B5EF4-FFF2-40B4-BE49-F238E27FC236}">
                <a16:creationId xmlns:a16="http://schemas.microsoft.com/office/drawing/2014/main" id="{A903DF65-DD74-4A08-A2F3-FF0EACF94880}"/>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7 / 12</a:t>
            </a:r>
            <a:endParaRPr sz="900"/>
          </a:p>
        </p:txBody>
      </p:sp>
      <p:sp>
        <p:nvSpPr>
          <p:cNvPr id="6" name="Shape 3">
            <a:extLst>
              <a:ext uri="{FF2B5EF4-FFF2-40B4-BE49-F238E27FC236}">
                <a16:creationId xmlns:a16="http://schemas.microsoft.com/office/drawing/2014/main" id="{16E71C73-9240-42EC-BA09-E340249CF132}"/>
              </a:ext>
            </a:extLst>
          </p:cNvPr>
          <p:cNvSpPr>
            <a:spLocks noGrp="1"/>
          </p:cNvSpPr>
          <p:nvPr/>
        </p:nvSpPr>
        <p:spPr>
          <a:xfrm>
            <a:off x="8165592" y="274320"/>
            <a:ext cx="420624" cy="256032"/>
          </a:xfrm>
          <a:prstGeom prst="roundRect">
            <a:avLst>
              <a:gd name="adj" fmla="val 50000"/>
            </a:avLst>
          </a:prstGeom>
          <a:solidFill>
            <a:srgbClr val="E7F3EB"/>
          </a:solidFill>
          <a:ln w="9525">
            <a:solidFill>
              <a:srgbClr val="006B45"/>
            </a:solidFill>
            <a:prstDash val="solid"/>
          </a:ln>
        </p:spPr>
        <p:txBody>
          <a:bodyPr/>
          <a:lstStyle/>
          <a:p>
            <a:endParaRPr lang="fr-FR"/>
          </a:p>
        </p:txBody>
      </p:sp>
      <p:sp>
        <p:nvSpPr>
          <p:cNvPr id="7" name="Text 4">
            <a:extLst>
              <a:ext uri="{FF2B5EF4-FFF2-40B4-BE49-F238E27FC236}">
                <a16:creationId xmlns:a16="http://schemas.microsoft.com/office/drawing/2014/main" id="{ADD5F953-0C37-43E0-A5D1-215728F80AF9}"/>
              </a:ext>
            </a:extLst>
          </p:cNvPr>
          <p:cNvSpPr>
            <a:spLocks noGrp="1"/>
          </p:cNvSpPr>
          <p:nvPr/>
        </p:nvSpPr>
        <p:spPr>
          <a:xfrm>
            <a:off x="8165592" y="274320"/>
            <a:ext cx="420624" cy="256032"/>
          </a:xfrm>
          <a:prstGeom prst="rect">
            <a:avLst/>
          </a:prstGeom>
          <a:noFill/>
        </p:spPr>
        <p:txBody>
          <a:bodyPr wrap="square" lIns="0" tIns="0" rIns="0" bIns="0" anchor="ctr"/>
          <a:lstStyle/>
          <a:p>
            <a:pPr marL="0" indent="0" algn="ctr">
              <a:buNone/>
            </a:pPr>
            <a:r>
              <a:rPr sz="1000" b="1" spc="100">
                <a:solidFill>
                  <a:srgbClr val="006B45"/>
                </a:solidFill>
                <a:latin typeface="Calibri"/>
                <a:ea typeface="Calibri"/>
                <a:cs typeface="Calibri"/>
              </a:rPr>
              <a:t>RÉEL</a:t>
            </a:r>
            <a:endParaRPr sz="1000"/>
          </a:p>
        </p:txBody>
      </p:sp>
      <p:sp>
        <p:nvSpPr>
          <p:cNvPr id="9" name="Shape 5">
            <a:extLst>
              <a:ext uri="{FF2B5EF4-FFF2-40B4-BE49-F238E27FC236}">
                <a16:creationId xmlns:a16="http://schemas.microsoft.com/office/drawing/2014/main" id="{0BA222D2-9B9A-4C3E-8934-7937BB4353C0}"/>
              </a:ext>
            </a:extLst>
          </p:cNvPr>
          <p:cNvSpPr>
            <a:spLocks noGrp="1"/>
          </p:cNvSpPr>
          <p:nvPr/>
        </p:nvSpPr>
        <p:spPr>
          <a:xfrm>
            <a:off x="822960" y="1188720"/>
            <a:ext cx="7498080" cy="3209544"/>
          </a:xfrm>
          <a:prstGeom prst="roundRect">
            <a:avLst>
              <a:gd name="adj" fmla="val 1425"/>
            </a:avLst>
          </a:prstGeom>
          <a:ln w="12700">
            <a:solidFill>
              <a:srgbClr val="B9CEC0"/>
            </a:solidFill>
            <a:prstDash val="solid"/>
          </a:ln>
        </p:spPr>
        <p:txBody>
          <a:bodyPr/>
          <a:lstStyle/>
          <a:p>
            <a:endParaRPr lang="fr-FR"/>
          </a:p>
        </p:txBody>
      </p:sp>
      <p:sp>
        <p:nvSpPr>
          <p:cNvPr id="10" name="Shape 6">
            <a:extLst>
              <a:ext uri="{FF2B5EF4-FFF2-40B4-BE49-F238E27FC236}">
                <a16:creationId xmlns:a16="http://schemas.microsoft.com/office/drawing/2014/main" id="{BD65B5DF-9FA9-4551-8FA6-E2899674A660}"/>
              </a:ext>
            </a:extLst>
          </p:cNvPr>
          <p:cNvSpPr>
            <a:spLocks noGrp="1"/>
          </p:cNvSpPr>
          <p:nvPr/>
        </p:nvSpPr>
        <p:spPr>
          <a:xfrm>
            <a:off x="822960" y="4572000"/>
            <a:ext cx="128016" cy="128016"/>
          </a:xfrm>
          <a:prstGeom prst="ellipse">
            <a:avLst/>
          </a:prstGeom>
          <a:solidFill>
            <a:srgbClr val="006B45"/>
          </a:solidFill>
          <a:ln w="12700">
            <a:solidFill>
              <a:srgbClr val="006B45"/>
            </a:solidFill>
            <a:prstDash val="solid"/>
          </a:ln>
        </p:spPr>
        <p:txBody>
          <a:bodyPr/>
          <a:lstStyle/>
          <a:p>
            <a:endParaRPr lang="fr-FR"/>
          </a:p>
        </p:txBody>
      </p:sp>
      <p:sp>
        <p:nvSpPr>
          <p:cNvPr id="11" name="Text 7">
            <a:extLst>
              <a:ext uri="{FF2B5EF4-FFF2-40B4-BE49-F238E27FC236}">
                <a16:creationId xmlns:a16="http://schemas.microsoft.com/office/drawing/2014/main" id="{A6133589-B6A2-4A9D-B668-D294E8A5CB14}"/>
              </a:ext>
            </a:extLst>
          </p:cNvPr>
          <p:cNvSpPr>
            <a:spLocks noGrp="1"/>
          </p:cNvSpPr>
          <p:nvPr/>
        </p:nvSpPr>
        <p:spPr>
          <a:xfrm>
            <a:off x="1024128" y="4507992"/>
            <a:ext cx="1691640" cy="256032"/>
          </a:xfrm>
          <a:prstGeom prst="rect">
            <a:avLst/>
          </a:prstGeom>
          <a:noFill/>
        </p:spPr>
        <p:txBody>
          <a:bodyPr wrap="square" lIns="0" tIns="0" rIns="0" bIns="0" anchor="t"/>
          <a:lstStyle/>
          <a:p>
            <a:pPr marL="0" indent="0">
              <a:buNone/>
            </a:pPr>
            <a:r>
              <a:rPr sz="1150">
                <a:solidFill>
                  <a:srgbClr val="142820"/>
                </a:solidFill>
                <a:latin typeface="Calibri"/>
                <a:ea typeface="Calibri"/>
                <a:cs typeface="Calibri"/>
              </a:rPr>
              <a:t>4 mesures toutes les 3 s</a:t>
            </a:r>
            <a:endParaRPr sz="1150"/>
          </a:p>
        </p:txBody>
      </p:sp>
      <p:sp>
        <p:nvSpPr>
          <p:cNvPr id="12" name="Shape 8">
            <a:extLst>
              <a:ext uri="{FF2B5EF4-FFF2-40B4-BE49-F238E27FC236}">
                <a16:creationId xmlns:a16="http://schemas.microsoft.com/office/drawing/2014/main" id="{49694452-94B4-435A-924B-4884E5D057F5}"/>
              </a:ext>
            </a:extLst>
          </p:cNvPr>
          <p:cNvSpPr>
            <a:spLocks noGrp="1"/>
          </p:cNvSpPr>
          <p:nvPr/>
        </p:nvSpPr>
        <p:spPr>
          <a:xfrm>
            <a:off x="2743200" y="4572000"/>
            <a:ext cx="128016" cy="128016"/>
          </a:xfrm>
          <a:prstGeom prst="ellipse">
            <a:avLst/>
          </a:prstGeom>
          <a:solidFill>
            <a:srgbClr val="006B45"/>
          </a:solidFill>
          <a:ln w="12700">
            <a:solidFill>
              <a:srgbClr val="006B45"/>
            </a:solidFill>
            <a:prstDash val="solid"/>
          </a:ln>
        </p:spPr>
        <p:txBody>
          <a:bodyPr/>
          <a:lstStyle/>
          <a:p>
            <a:endParaRPr lang="fr-FR"/>
          </a:p>
        </p:txBody>
      </p:sp>
      <p:sp>
        <p:nvSpPr>
          <p:cNvPr id="13" name="Text 9">
            <a:extLst>
              <a:ext uri="{FF2B5EF4-FFF2-40B4-BE49-F238E27FC236}">
                <a16:creationId xmlns:a16="http://schemas.microsoft.com/office/drawing/2014/main" id="{FB1CC9FF-0ED4-42B1-A4BA-1DA25F88B668}"/>
              </a:ext>
            </a:extLst>
          </p:cNvPr>
          <p:cNvSpPr>
            <a:spLocks noGrp="1"/>
          </p:cNvSpPr>
          <p:nvPr/>
        </p:nvSpPr>
        <p:spPr>
          <a:xfrm>
            <a:off x="2944368" y="4507992"/>
            <a:ext cx="1691640" cy="256032"/>
          </a:xfrm>
          <a:prstGeom prst="rect">
            <a:avLst/>
          </a:prstGeom>
          <a:noFill/>
        </p:spPr>
        <p:txBody>
          <a:bodyPr wrap="square" lIns="0" tIns="0" rIns="0" bIns="0" anchor="t"/>
          <a:lstStyle/>
          <a:p>
            <a:pPr marL="0" indent="0">
              <a:buNone/>
            </a:pPr>
            <a:r>
              <a:rPr sz="1150">
                <a:solidFill>
                  <a:srgbClr val="142820"/>
                </a:solidFill>
                <a:latin typeface="Calibri"/>
                <a:ea typeface="Calibri"/>
                <a:cs typeface="Calibri"/>
              </a:rPr>
              <a:t>Historique 1 h · 6 h · 24 h</a:t>
            </a:r>
            <a:endParaRPr sz="1150"/>
          </a:p>
        </p:txBody>
      </p:sp>
      <p:sp>
        <p:nvSpPr>
          <p:cNvPr id="14" name="Shape 10">
            <a:extLst>
              <a:ext uri="{FF2B5EF4-FFF2-40B4-BE49-F238E27FC236}">
                <a16:creationId xmlns:a16="http://schemas.microsoft.com/office/drawing/2014/main" id="{EDA77814-55CD-4483-9C4B-5CE68DA81E30}"/>
              </a:ext>
            </a:extLst>
          </p:cNvPr>
          <p:cNvSpPr>
            <a:spLocks noGrp="1"/>
          </p:cNvSpPr>
          <p:nvPr/>
        </p:nvSpPr>
        <p:spPr>
          <a:xfrm>
            <a:off x="4663440" y="4572000"/>
            <a:ext cx="128016" cy="128016"/>
          </a:xfrm>
          <a:prstGeom prst="ellipse">
            <a:avLst/>
          </a:prstGeom>
          <a:solidFill>
            <a:srgbClr val="006B45"/>
          </a:solidFill>
          <a:ln w="12700">
            <a:solidFill>
              <a:srgbClr val="006B45"/>
            </a:solidFill>
            <a:prstDash val="solid"/>
          </a:ln>
        </p:spPr>
        <p:txBody>
          <a:bodyPr/>
          <a:lstStyle/>
          <a:p>
            <a:endParaRPr lang="fr-FR"/>
          </a:p>
        </p:txBody>
      </p:sp>
      <p:sp>
        <p:nvSpPr>
          <p:cNvPr id="15" name="Text 11">
            <a:extLst>
              <a:ext uri="{FF2B5EF4-FFF2-40B4-BE49-F238E27FC236}">
                <a16:creationId xmlns:a16="http://schemas.microsoft.com/office/drawing/2014/main" id="{90C34BBA-D899-47BB-8BEB-57A56B0A0F08}"/>
              </a:ext>
            </a:extLst>
          </p:cNvPr>
          <p:cNvSpPr>
            <a:spLocks noGrp="1"/>
          </p:cNvSpPr>
          <p:nvPr/>
        </p:nvSpPr>
        <p:spPr>
          <a:xfrm>
            <a:off x="4864608" y="4507992"/>
            <a:ext cx="1691640" cy="256032"/>
          </a:xfrm>
          <a:prstGeom prst="rect">
            <a:avLst/>
          </a:prstGeom>
          <a:noFill/>
        </p:spPr>
        <p:txBody>
          <a:bodyPr wrap="square" lIns="0" tIns="0" rIns="0" bIns="0" anchor="t"/>
          <a:lstStyle/>
          <a:p>
            <a:pPr marL="0" indent="0">
              <a:buNone/>
            </a:pPr>
            <a:r>
              <a:rPr sz="1150">
                <a:solidFill>
                  <a:srgbClr val="142820"/>
                </a:solidFill>
                <a:latin typeface="Calibri"/>
                <a:ea typeface="Calibri"/>
                <a:cs typeface="Calibri"/>
              </a:rPr>
              <a:t>Mode auto / manuel</a:t>
            </a:r>
            <a:endParaRPr sz="1150"/>
          </a:p>
        </p:txBody>
      </p:sp>
      <p:sp>
        <p:nvSpPr>
          <p:cNvPr id="16" name="Shape 12">
            <a:extLst>
              <a:ext uri="{FF2B5EF4-FFF2-40B4-BE49-F238E27FC236}">
                <a16:creationId xmlns:a16="http://schemas.microsoft.com/office/drawing/2014/main" id="{DF33E866-E4AB-4158-837D-DBFCBBB62AF7}"/>
              </a:ext>
            </a:extLst>
          </p:cNvPr>
          <p:cNvSpPr>
            <a:spLocks noGrp="1"/>
          </p:cNvSpPr>
          <p:nvPr/>
        </p:nvSpPr>
        <p:spPr>
          <a:xfrm>
            <a:off x="6583680" y="4572000"/>
            <a:ext cx="128016" cy="128016"/>
          </a:xfrm>
          <a:prstGeom prst="ellipse">
            <a:avLst/>
          </a:prstGeom>
          <a:solidFill>
            <a:srgbClr val="006B45"/>
          </a:solidFill>
          <a:ln w="12700">
            <a:solidFill>
              <a:srgbClr val="006B45"/>
            </a:solidFill>
            <a:prstDash val="solid"/>
          </a:ln>
        </p:spPr>
        <p:txBody>
          <a:bodyPr/>
          <a:lstStyle/>
          <a:p>
            <a:endParaRPr lang="fr-FR"/>
          </a:p>
        </p:txBody>
      </p:sp>
      <p:sp>
        <p:nvSpPr>
          <p:cNvPr id="17" name="Text 13">
            <a:extLst>
              <a:ext uri="{FF2B5EF4-FFF2-40B4-BE49-F238E27FC236}">
                <a16:creationId xmlns:a16="http://schemas.microsoft.com/office/drawing/2014/main" id="{25009AE5-87F5-4DC0-A11E-7571E1F8A1B5}"/>
              </a:ext>
            </a:extLst>
          </p:cNvPr>
          <p:cNvSpPr>
            <a:spLocks noGrp="1"/>
          </p:cNvSpPr>
          <p:nvPr/>
        </p:nvSpPr>
        <p:spPr>
          <a:xfrm>
            <a:off x="6784848" y="4507992"/>
            <a:ext cx="1691640" cy="256032"/>
          </a:xfrm>
          <a:prstGeom prst="rect">
            <a:avLst/>
          </a:prstGeom>
          <a:noFill/>
        </p:spPr>
        <p:txBody>
          <a:bodyPr wrap="square" lIns="0" tIns="0" rIns="0" bIns="0" anchor="t"/>
          <a:lstStyle/>
          <a:p>
            <a:pPr marL="0" indent="0">
              <a:buNone/>
            </a:pPr>
            <a:r>
              <a:rPr sz="1150">
                <a:solidFill>
                  <a:srgbClr val="142820"/>
                </a:solidFill>
                <a:latin typeface="Calibri"/>
                <a:ea typeface="Calibri"/>
                <a:cs typeface="Calibri"/>
              </a:rPr>
              <a:t>Alertes + état du Pi</a:t>
            </a:r>
            <a:endParaRPr sz="1150"/>
          </a:p>
        </p:txBody>
      </p:sp>
      <p:sp>
        <p:nvSpPr>
          <p:cNvPr id="18" name="Text 14">
            <a:extLst>
              <a:ext uri="{FF2B5EF4-FFF2-40B4-BE49-F238E27FC236}">
                <a16:creationId xmlns:a16="http://schemas.microsoft.com/office/drawing/2014/main" id="{FB9EFEDB-8230-45E7-8829-118FEF41DB4F}"/>
              </a:ext>
            </a:extLst>
          </p:cNvPr>
          <p:cNvSpPr>
            <a:spLocks noGrp="1"/>
          </p:cNvSpPr>
          <p:nvPr/>
        </p:nvSpPr>
        <p:spPr>
          <a:xfrm>
            <a:off x="457200" y="4800600"/>
            <a:ext cx="2743200" cy="182880"/>
          </a:xfrm>
          <a:prstGeom prst="rect">
            <a:avLst/>
          </a:prstGeom>
          <a:noFill/>
        </p:spPr>
        <p:txBody>
          <a:bodyPr wrap="square" lIns="0" tIns="0" rIns="0" bIns="0" anchor="t"/>
          <a:lstStyle/>
          <a:p>
            <a:pPr marL="0" indent="0">
              <a:buNone/>
            </a:pPr>
            <a:r>
              <a:rPr sz="900">
                <a:solidFill>
                  <a:srgbClr val="43574D"/>
                </a:solidFill>
                <a:latin typeface="Calibri"/>
                <a:ea typeface="Calibri"/>
                <a:cs typeface="Calibri"/>
              </a:rPr>
              <a:t>Capture du 24/09/2026</a:t>
            </a:r>
            <a:endParaRPr sz="900"/>
          </a:p>
        </p:txBody>
      </p:sp>
      <p:pic>
        <p:nvPicPr>
          <p:cNvPr id="25" name="Image 0"/>
          <p:cNvPicPr>
            <a:picLocks noChangeAspect="1"/>
          </p:cNvPicPr>
          <p:nvPr/>
        </p:nvPicPr>
        <p:blipFill>
          <a:blip r:embed="rId3"/>
          <a:stretch>
            <a:fillRect/>
          </a:stretch>
        </p:blipFill>
        <p:spPr>
          <a:xfrm>
            <a:off x="822960" y="1188720"/>
            <a:ext cx="7498080" cy="3209544"/>
          </a:xfrm>
          <a:prstGeom prst="rect">
            <a:avLst/>
          </a:prstGeom>
        </p:spPr>
      </p:pic>
    </p:spTree>
    <p:extLst>
      <p:ext uri="{BB962C8B-B14F-4D97-AF65-F5344CB8AC3E}">
        <p14:creationId xmlns:p14="http://schemas.microsoft.com/office/powerpoint/2010/main" val="1451375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5688DA9-E897-48E6-AEA8-C2DFD9F257B1}"/>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AUTOMATISATION</a:t>
            </a:r>
            <a:endParaRPr sz="1000"/>
          </a:p>
        </p:txBody>
      </p:sp>
      <p:sp>
        <p:nvSpPr>
          <p:cNvPr id="4" name="Text 1">
            <a:extLst>
              <a:ext uri="{FF2B5EF4-FFF2-40B4-BE49-F238E27FC236}">
                <a16:creationId xmlns:a16="http://schemas.microsoft.com/office/drawing/2014/main" id="{3A0E2B21-68A8-42CD-BCAB-7E401647690F}"/>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Deux seuils pour stabiliser l’éclairage</a:t>
            </a:r>
            <a:endParaRPr sz="2800"/>
          </a:p>
        </p:txBody>
      </p:sp>
      <p:sp>
        <p:nvSpPr>
          <p:cNvPr id="5" name="Text 2">
            <a:extLst>
              <a:ext uri="{FF2B5EF4-FFF2-40B4-BE49-F238E27FC236}">
                <a16:creationId xmlns:a16="http://schemas.microsoft.com/office/drawing/2014/main" id="{C05B020C-0B11-49F3-BC34-1E87EE5AC889}"/>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8 / 12</a:t>
            </a:r>
            <a:endParaRPr sz="900"/>
          </a:p>
        </p:txBody>
      </p:sp>
      <p:sp>
        <p:nvSpPr>
          <p:cNvPr id="6" name="Text 3">
            <a:extLst>
              <a:ext uri="{FF2B5EF4-FFF2-40B4-BE49-F238E27FC236}">
                <a16:creationId xmlns:a16="http://schemas.microsoft.com/office/drawing/2014/main" id="{28B16192-53D6-47EF-94F2-EA157FFAAAAE}"/>
              </a:ext>
            </a:extLst>
          </p:cNvPr>
          <p:cNvSpPr>
            <a:spLocks noGrp="1"/>
          </p:cNvSpPr>
          <p:nvPr/>
        </p:nvSpPr>
        <p:spPr>
          <a:xfrm>
            <a:off x="457200" y="1280160"/>
            <a:ext cx="8229600" cy="274320"/>
          </a:xfrm>
          <a:prstGeom prst="rect">
            <a:avLst/>
          </a:prstGeom>
          <a:noFill/>
        </p:spPr>
        <p:txBody>
          <a:bodyPr wrap="square" lIns="0" tIns="0" rIns="0" bIns="0" anchor="t"/>
          <a:lstStyle/>
          <a:p>
            <a:pPr marL="0" indent="0">
              <a:buNone/>
            </a:pPr>
            <a:r>
              <a:rPr sz="1200">
                <a:solidFill>
                  <a:srgbClr val="43574D"/>
                </a:solidFill>
                <a:latin typeface="Calibri"/>
                <a:ea typeface="Calibri"/>
                <a:cs typeface="Calibri"/>
              </a:rPr>
              <a:t>Valeur du capteur de lumière (0 = très clair, 1023 = très sombre)</a:t>
            </a:r>
            <a:endParaRPr sz="1200"/>
          </a:p>
        </p:txBody>
      </p:sp>
      <p:sp>
        <p:nvSpPr>
          <p:cNvPr id="7" name="Shape 4">
            <a:extLst>
              <a:ext uri="{FF2B5EF4-FFF2-40B4-BE49-F238E27FC236}">
                <a16:creationId xmlns:a16="http://schemas.microsoft.com/office/drawing/2014/main" id="{227BB5C6-2CFA-43E3-89C2-F1F68A4EE723}"/>
              </a:ext>
            </a:extLst>
          </p:cNvPr>
          <p:cNvSpPr>
            <a:spLocks noGrp="1"/>
          </p:cNvSpPr>
          <p:nvPr/>
        </p:nvSpPr>
        <p:spPr>
          <a:xfrm>
            <a:off x="457200" y="1645920"/>
            <a:ext cx="3620059" cy="777240"/>
          </a:xfrm>
          <a:prstGeom prst="rect">
            <a:avLst/>
          </a:prstGeom>
          <a:solidFill>
            <a:srgbClr val="E5F0FA"/>
          </a:solidFill>
          <a:ln w="12700">
            <a:solidFill>
              <a:srgbClr val="185C94"/>
            </a:solidFill>
            <a:prstDash val="solid"/>
          </a:ln>
        </p:spPr>
        <p:txBody>
          <a:bodyPr/>
          <a:lstStyle/>
          <a:p>
            <a:endParaRPr lang="fr-FR"/>
          </a:p>
        </p:txBody>
      </p:sp>
      <p:sp>
        <p:nvSpPr>
          <p:cNvPr id="8" name="Text 5">
            <a:extLst>
              <a:ext uri="{FF2B5EF4-FFF2-40B4-BE49-F238E27FC236}">
                <a16:creationId xmlns:a16="http://schemas.microsoft.com/office/drawing/2014/main" id="{AD13A15F-536D-4D84-9987-4754C3BBE9F3}"/>
              </a:ext>
            </a:extLst>
          </p:cNvPr>
          <p:cNvSpPr>
            <a:spLocks noGrp="1"/>
          </p:cNvSpPr>
          <p:nvPr/>
        </p:nvSpPr>
        <p:spPr>
          <a:xfrm>
            <a:off x="457200" y="1737360"/>
            <a:ext cx="3620059" cy="320040"/>
          </a:xfrm>
          <a:prstGeom prst="rect">
            <a:avLst/>
          </a:prstGeom>
          <a:noFill/>
        </p:spPr>
        <p:txBody>
          <a:bodyPr wrap="square" lIns="0" tIns="0" rIns="0" bIns="0" anchor="t"/>
          <a:lstStyle/>
          <a:p>
            <a:pPr marL="0" indent="0" algn="ctr">
              <a:buNone/>
            </a:pPr>
            <a:r>
              <a:rPr sz="1300" b="1">
                <a:solidFill>
                  <a:srgbClr val="185C94"/>
                </a:solidFill>
                <a:latin typeface="Calibri"/>
                <a:ea typeface="Calibri"/>
                <a:cs typeface="Calibri"/>
              </a:rPr>
              <a:t>LED ÉTEINTE</a:t>
            </a:r>
            <a:endParaRPr sz="1300"/>
          </a:p>
        </p:txBody>
      </p:sp>
      <p:sp>
        <p:nvSpPr>
          <p:cNvPr id="9" name="Text 6">
            <a:extLst>
              <a:ext uri="{FF2B5EF4-FFF2-40B4-BE49-F238E27FC236}">
                <a16:creationId xmlns:a16="http://schemas.microsoft.com/office/drawing/2014/main" id="{F00A5EEE-AE99-406B-814E-B3E231507BED}"/>
              </a:ext>
            </a:extLst>
          </p:cNvPr>
          <p:cNvSpPr>
            <a:spLocks noGrp="1"/>
          </p:cNvSpPr>
          <p:nvPr/>
        </p:nvSpPr>
        <p:spPr>
          <a:xfrm>
            <a:off x="457200" y="2057400"/>
            <a:ext cx="3620059" cy="274320"/>
          </a:xfrm>
          <a:prstGeom prst="rect">
            <a:avLst/>
          </a:prstGeom>
          <a:noFill/>
        </p:spPr>
        <p:txBody>
          <a:bodyPr wrap="square" lIns="0" tIns="0" rIns="0" bIns="0" anchor="t"/>
          <a:lstStyle/>
          <a:p>
            <a:pPr marL="0" indent="0" algn="ctr">
              <a:buNone/>
            </a:pPr>
            <a:r>
              <a:rPr sz="1100">
                <a:solidFill>
                  <a:srgbClr val="142820"/>
                </a:solidFill>
                <a:latin typeface="Calibri"/>
                <a:ea typeface="Calibri"/>
                <a:cs typeface="Calibri"/>
              </a:rPr>
              <a:t>il fait clair</a:t>
            </a:r>
            <a:endParaRPr sz="1100"/>
          </a:p>
        </p:txBody>
      </p:sp>
      <p:sp>
        <p:nvSpPr>
          <p:cNvPr id="10" name="Shape 7">
            <a:extLst>
              <a:ext uri="{FF2B5EF4-FFF2-40B4-BE49-F238E27FC236}">
                <a16:creationId xmlns:a16="http://schemas.microsoft.com/office/drawing/2014/main" id="{E8E83A5B-0720-42BF-81E6-421EDC86EA1E}"/>
              </a:ext>
            </a:extLst>
          </p:cNvPr>
          <p:cNvSpPr>
            <a:spLocks noGrp="1"/>
          </p:cNvSpPr>
          <p:nvPr/>
        </p:nvSpPr>
        <p:spPr>
          <a:xfrm>
            <a:off x="4077259" y="1645920"/>
            <a:ext cx="1608915" cy="777240"/>
          </a:xfrm>
          <a:prstGeom prst="rect">
            <a:avLst/>
          </a:prstGeom>
          <a:solidFill>
            <a:srgbClr val="FFF1CE"/>
          </a:solidFill>
          <a:ln w="12700">
            <a:solidFill>
              <a:srgbClr val="955000"/>
            </a:solidFill>
            <a:prstDash val="solid"/>
          </a:ln>
        </p:spPr>
        <p:txBody>
          <a:bodyPr/>
          <a:lstStyle/>
          <a:p>
            <a:endParaRPr lang="fr-FR"/>
          </a:p>
        </p:txBody>
      </p:sp>
      <p:sp>
        <p:nvSpPr>
          <p:cNvPr id="11" name="Text 8">
            <a:extLst>
              <a:ext uri="{FF2B5EF4-FFF2-40B4-BE49-F238E27FC236}">
                <a16:creationId xmlns:a16="http://schemas.microsoft.com/office/drawing/2014/main" id="{7604AA14-93B5-414F-8CC2-26887E1B960E}"/>
              </a:ext>
            </a:extLst>
          </p:cNvPr>
          <p:cNvSpPr>
            <a:spLocks noGrp="1"/>
          </p:cNvSpPr>
          <p:nvPr/>
        </p:nvSpPr>
        <p:spPr>
          <a:xfrm>
            <a:off x="4077259" y="1737360"/>
            <a:ext cx="1608915" cy="320040"/>
          </a:xfrm>
          <a:prstGeom prst="rect">
            <a:avLst/>
          </a:prstGeom>
          <a:noFill/>
        </p:spPr>
        <p:txBody>
          <a:bodyPr wrap="square" lIns="0" tIns="0" rIns="0" bIns="0" anchor="t"/>
          <a:lstStyle/>
          <a:p>
            <a:pPr marL="0" indent="0" algn="ctr">
              <a:buNone/>
            </a:pPr>
            <a:r>
              <a:rPr sz="1300" b="1">
                <a:solidFill>
                  <a:srgbClr val="955000"/>
                </a:solidFill>
                <a:latin typeface="Calibri"/>
                <a:ea typeface="Calibri"/>
                <a:cs typeface="Calibri"/>
              </a:rPr>
              <a:t>ÉTAT CONSERVÉ</a:t>
            </a:r>
            <a:endParaRPr sz="1300"/>
          </a:p>
        </p:txBody>
      </p:sp>
      <p:sp>
        <p:nvSpPr>
          <p:cNvPr id="12" name="Text 9">
            <a:extLst>
              <a:ext uri="{FF2B5EF4-FFF2-40B4-BE49-F238E27FC236}">
                <a16:creationId xmlns:a16="http://schemas.microsoft.com/office/drawing/2014/main" id="{3145B47B-03DA-48DE-A4F1-046CF0A82024}"/>
              </a:ext>
            </a:extLst>
          </p:cNvPr>
          <p:cNvSpPr>
            <a:spLocks noGrp="1"/>
          </p:cNvSpPr>
          <p:nvPr/>
        </p:nvSpPr>
        <p:spPr>
          <a:xfrm>
            <a:off x="4077259" y="2057400"/>
            <a:ext cx="1608915" cy="274320"/>
          </a:xfrm>
          <a:prstGeom prst="rect">
            <a:avLst/>
          </a:prstGeom>
          <a:noFill/>
        </p:spPr>
        <p:txBody>
          <a:bodyPr wrap="square" lIns="0" tIns="0" rIns="0" bIns="0" anchor="t"/>
          <a:lstStyle/>
          <a:p>
            <a:pPr marL="0" indent="0" algn="ctr">
              <a:buNone/>
            </a:pPr>
            <a:r>
              <a:rPr sz="1100">
                <a:solidFill>
                  <a:srgbClr val="142820"/>
                </a:solidFill>
                <a:latin typeface="Calibri"/>
                <a:ea typeface="Calibri"/>
                <a:cs typeface="Calibri"/>
              </a:rPr>
              <a:t>entre les deux seuils</a:t>
            </a:r>
            <a:endParaRPr sz="1100"/>
          </a:p>
        </p:txBody>
      </p:sp>
      <p:sp>
        <p:nvSpPr>
          <p:cNvPr id="13" name="Shape 10">
            <a:extLst>
              <a:ext uri="{FF2B5EF4-FFF2-40B4-BE49-F238E27FC236}">
                <a16:creationId xmlns:a16="http://schemas.microsoft.com/office/drawing/2014/main" id="{9AEDC553-C8B9-49DF-B5A8-F0632CD2C157}"/>
              </a:ext>
            </a:extLst>
          </p:cNvPr>
          <p:cNvSpPr>
            <a:spLocks noGrp="1"/>
          </p:cNvSpPr>
          <p:nvPr/>
        </p:nvSpPr>
        <p:spPr>
          <a:xfrm>
            <a:off x="5686174" y="1645920"/>
            <a:ext cx="3000626" cy="777240"/>
          </a:xfrm>
          <a:prstGeom prst="rect">
            <a:avLst/>
          </a:prstGeom>
          <a:solidFill>
            <a:srgbClr val="E7F3EB"/>
          </a:solidFill>
          <a:ln w="12700">
            <a:solidFill>
              <a:srgbClr val="006B45"/>
            </a:solidFill>
            <a:prstDash val="solid"/>
          </a:ln>
        </p:spPr>
        <p:txBody>
          <a:bodyPr/>
          <a:lstStyle/>
          <a:p>
            <a:endParaRPr lang="fr-FR"/>
          </a:p>
        </p:txBody>
      </p:sp>
      <p:sp>
        <p:nvSpPr>
          <p:cNvPr id="14" name="Text 11">
            <a:extLst>
              <a:ext uri="{FF2B5EF4-FFF2-40B4-BE49-F238E27FC236}">
                <a16:creationId xmlns:a16="http://schemas.microsoft.com/office/drawing/2014/main" id="{8533470B-A8FA-477C-A869-E3BFF890B183}"/>
              </a:ext>
            </a:extLst>
          </p:cNvPr>
          <p:cNvSpPr>
            <a:spLocks noGrp="1"/>
          </p:cNvSpPr>
          <p:nvPr/>
        </p:nvSpPr>
        <p:spPr>
          <a:xfrm>
            <a:off x="5686174" y="1737360"/>
            <a:ext cx="3000626" cy="320040"/>
          </a:xfrm>
          <a:prstGeom prst="rect">
            <a:avLst/>
          </a:prstGeom>
          <a:noFill/>
        </p:spPr>
        <p:txBody>
          <a:bodyPr wrap="square" lIns="0" tIns="0" rIns="0" bIns="0" anchor="t"/>
          <a:lstStyle/>
          <a:p>
            <a:pPr marL="0" indent="0" algn="ctr">
              <a:buNone/>
            </a:pPr>
            <a:r>
              <a:rPr sz="1300" b="1">
                <a:solidFill>
                  <a:srgbClr val="006B45"/>
                </a:solidFill>
                <a:latin typeface="Calibri"/>
                <a:ea typeface="Calibri"/>
                <a:cs typeface="Calibri"/>
              </a:rPr>
              <a:t>LED ALLUMÉE</a:t>
            </a:r>
            <a:endParaRPr sz="1300"/>
          </a:p>
        </p:txBody>
      </p:sp>
      <p:sp>
        <p:nvSpPr>
          <p:cNvPr id="15" name="Text 12">
            <a:extLst>
              <a:ext uri="{FF2B5EF4-FFF2-40B4-BE49-F238E27FC236}">
                <a16:creationId xmlns:a16="http://schemas.microsoft.com/office/drawing/2014/main" id="{5EB8954A-1690-42D6-8D09-CBD1F316F162}"/>
              </a:ext>
            </a:extLst>
          </p:cNvPr>
          <p:cNvSpPr>
            <a:spLocks noGrp="1"/>
          </p:cNvSpPr>
          <p:nvPr/>
        </p:nvSpPr>
        <p:spPr>
          <a:xfrm>
            <a:off x="5686174" y="2057400"/>
            <a:ext cx="3000626" cy="274320"/>
          </a:xfrm>
          <a:prstGeom prst="rect">
            <a:avLst/>
          </a:prstGeom>
          <a:noFill/>
        </p:spPr>
        <p:txBody>
          <a:bodyPr wrap="square" lIns="0" tIns="0" rIns="0" bIns="0" anchor="t"/>
          <a:lstStyle/>
          <a:p>
            <a:pPr marL="0" indent="0" algn="ctr">
              <a:buNone/>
            </a:pPr>
            <a:r>
              <a:rPr sz="1100">
                <a:solidFill>
                  <a:srgbClr val="142820"/>
                </a:solidFill>
                <a:latin typeface="Calibri"/>
                <a:ea typeface="Calibri"/>
                <a:cs typeface="Calibri"/>
              </a:rPr>
              <a:t>il fait sombre</a:t>
            </a:r>
            <a:endParaRPr sz="1100"/>
          </a:p>
        </p:txBody>
      </p:sp>
      <p:sp>
        <p:nvSpPr>
          <p:cNvPr id="16" name="Text 13">
            <a:extLst>
              <a:ext uri="{FF2B5EF4-FFF2-40B4-BE49-F238E27FC236}">
                <a16:creationId xmlns:a16="http://schemas.microsoft.com/office/drawing/2014/main" id="{5FB761A5-BC70-4471-9833-C0D4B4C426B7}"/>
              </a:ext>
            </a:extLst>
          </p:cNvPr>
          <p:cNvSpPr>
            <a:spLocks noGrp="1"/>
          </p:cNvSpPr>
          <p:nvPr/>
        </p:nvSpPr>
        <p:spPr>
          <a:xfrm>
            <a:off x="3802939" y="2468880"/>
            <a:ext cx="548640" cy="228600"/>
          </a:xfrm>
          <a:prstGeom prst="rect">
            <a:avLst/>
          </a:prstGeom>
          <a:noFill/>
        </p:spPr>
        <p:txBody>
          <a:bodyPr wrap="square" lIns="0" tIns="0" rIns="0" bIns="0" anchor="t"/>
          <a:lstStyle/>
          <a:p>
            <a:pPr marL="0" indent="0" algn="ctr">
              <a:buNone/>
            </a:pPr>
            <a:r>
              <a:rPr sz="1200" b="1">
                <a:solidFill>
                  <a:srgbClr val="955000"/>
                </a:solidFill>
                <a:latin typeface="Calibri"/>
                <a:ea typeface="Calibri"/>
                <a:cs typeface="Calibri"/>
              </a:rPr>
              <a:t>450</a:t>
            </a:r>
            <a:endParaRPr sz="1200"/>
          </a:p>
        </p:txBody>
      </p:sp>
      <p:sp>
        <p:nvSpPr>
          <p:cNvPr id="17" name="Text 14">
            <a:extLst>
              <a:ext uri="{FF2B5EF4-FFF2-40B4-BE49-F238E27FC236}">
                <a16:creationId xmlns:a16="http://schemas.microsoft.com/office/drawing/2014/main" id="{432A9DC2-6649-473B-B831-017509F5636C}"/>
              </a:ext>
            </a:extLst>
          </p:cNvPr>
          <p:cNvSpPr>
            <a:spLocks noGrp="1"/>
          </p:cNvSpPr>
          <p:nvPr/>
        </p:nvSpPr>
        <p:spPr>
          <a:xfrm>
            <a:off x="5411854" y="2468880"/>
            <a:ext cx="548640" cy="228600"/>
          </a:xfrm>
          <a:prstGeom prst="rect">
            <a:avLst/>
          </a:prstGeom>
          <a:noFill/>
        </p:spPr>
        <p:txBody>
          <a:bodyPr wrap="square" lIns="0" tIns="0" rIns="0" bIns="0" anchor="t"/>
          <a:lstStyle/>
          <a:p>
            <a:pPr marL="0" indent="0" algn="ctr">
              <a:buNone/>
            </a:pPr>
            <a:r>
              <a:rPr sz="1200" b="1">
                <a:solidFill>
                  <a:srgbClr val="955000"/>
                </a:solidFill>
                <a:latin typeface="Calibri"/>
                <a:ea typeface="Calibri"/>
                <a:cs typeface="Calibri"/>
              </a:rPr>
              <a:t>650</a:t>
            </a:r>
            <a:endParaRPr sz="1200"/>
          </a:p>
        </p:txBody>
      </p:sp>
      <p:sp>
        <p:nvSpPr>
          <p:cNvPr id="18" name="Shape 15">
            <a:extLst>
              <a:ext uri="{FF2B5EF4-FFF2-40B4-BE49-F238E27FC236}">
                <a16:creationId xmlns:a16="http://schemas.microsoft.com/office/drawing/2014/main" id="{3F69D6F4-9DCD-411B-A7B9-4706065D5E65}"/>
              </a:ext>
            </a:extLst>
          </p:cNvPr>
          <p:cNvSpPr>
            <a:spLocks noGrp="1"/>
          </p:cNvSpPr>
          <p:nvPr/>
        </p:nvSpPr>
        <p:spPr>
          <a:xfrm>
            <a:off x="457200" y="2926080"/>
            <a:ext cx="3931920" cy="1691640"/>
          </a:xfrm>
          <a:prstGeom prst="roundRect">
            <a:avLst>
              <a:gd name="adj" fmla="val 4324"/>
            </a:avLst>
          </a:prstGeom>
          <a:solidFill>
            <a:srgbClr val="F2F6F3"/>
          </a:solidFill>
          <a:ln w="9525">
            <a:solidFill>
              <a:srgbClr val="B9CEC0"/>
            </a:solidFill>
            <a:prstDash val="solid"/>
          </a:ln>
        </p:spPr>
        <p:txBody>
          <a:bodyPr/>
          <a:lstStyle/>
          <a:p>
            <a:endParaRPr lang="fr-FR"/>
          </a:p>
        </p:txBody>
      </p:sp>
      <p:sp>
        <p:nvSpPr>
          <p:cNvPr id="19" name="Text 16">
            <a:extLst>
              <a:ext uri="{FF2B5EF4-FFF2-40B4-BE49-F238E27FC236}">
                <a16:creationId xmlns:a16="http://schemas.microsoft.com/office/drawing/2014/main" id="{9D9AF866-B937-4C79-A25B-EEC34B7D3BD6}"/>
              </a:ext>
            </a:extLst>
          </p:cNvPr>
          <p:cNvSpPr>
            <a:spLocks noGrp="1"/>
          </p:cNvSpPr>
          <p:nvPr/>
        </p:nvSpPr>
        <p:spPr>
          <a:xfrm>
            <a:off x="640080" y="3044952"/>
            <a:ext cx="3566160" cy="228600"/>
          </a:xfrm>
          <a:prstGeom prst="rect">
            <a:avLst/>
          </a:prstGeom>
          <a:noFill/>
        </p:spPr>
        <p:txBody>
          <a:bodyPr wrap="square" lIns="0" tIns="0" rIns="0" bIns="0" anchor="t"/>
          <a:lstStyle/>
          <a:p>
            <a:pPr marL="0" indent="0">
              <a:buNone/>
            </a:pPr>
            <a:r>
              <a:rPr sz="1100" b="1">
                <a:solidFill>
                  <a:srgbClr val="43574D"/>
                </a:solidFill>
                <a:latin typeface="Calibri"/>
                <a:ea typeface="Calibri"/>
                <a:cs typeface="Calibri"/>
              </a:rPr>
              <a:t>automation.py (sur le Pi)</a:t>
            </a:r>
            <a:endParaRPr sz="1100"/>
          </a:p>
        </p:txBody>
      </p:sp>
      <p:sp>
        <p:nvSpPr>
          <p:cNvPr id="20" name="Text 17">
            <a:extLst>
              <a:ext uri="{FF2B5EF4-FFF2-40B4-BE49-F238E27FC236}">
                <a16:creationId xmlns:a16="http://schemas.microsoft.com/office/drawing/2014/main" id="{D856A25A-4847-4455-B8E4-4038908082C8}"/>
              </a:ext>
            </a:extLst>
          </p:cNvPr>
          <p:cNvSpPr>
            <a:spLocks noGrp="1"/>
          </p:cNvSpPr>
          <p:nvPr/>
        </p:nvSpPr>
        <p:spPr>
          <a:xfrm>
            <a:off x="640080" y="3337560"/>
            <a:ext cx="3566160" cy="1234440"/>
          </a:xfrm>
          <a:prstGeom prst="rect">
            <a:avLst/>
          </a:prstGeom>
          <a:noFill/>
        </p:spPr>
        <p:txBody>
          <a:bodyPr wrap="square" lIns="0" tIns="0" rIns="0" bIns="0" anchor="t"/>
          <a:lstStyle/>
          <a:p>
            <a:pPr marL="0" indent="0">
              <a:buNone/>
            </a:pPr>
            <a:r>
              <a:rPr sz="1000">
                <a:solidFill>
                  <a:srgbClr val="006B45"/>
                </a:solidFill>
                <a:latin typeface="Courier New"/>
                <a:ea typeface="Courier New"/>
                <a:cs typeface="Courier New"/>
              </a:rPr>
              <a:t>LIGHT_ON_RAW  = 650</a:t>
            </a:r>
            <a:endParaRPr sz="1000"/>
          </a:p>
          <a:p>
            <a:pPr marL="0" indent="0">
              <a:buNone/>
            </a:pPr>
            <a:r>
              <a:rPr sz="1000">
                <a:solidFill>
                  <a:srgbClr val="006B45"/>
                </a:solidFill>
                <a:latin typeface="Courier New"/>
                <a:ea typeface="Courier New"/>
                <a:cs typeface="Courier New"/>
              </a:rPr>
              <a:t>LIGHT_OFF_RAW = 450</a:t>
            </a:r>
            <a:endParaRPr sz="1000"/>
          </a:p>
          <a:p>
            <a:pPr marL="0" indent="0">
              <a:buNone/>
            </a:pPr>
            <a:endParaRPr sz="1000"/>
          </a:p>
          <a:p>
            <a:pPr marL="0" indent="0">
              <a:buNone/>
            </a:pPr>
            <a:r>
              <a:rPr sz="1000">
                <a:solidFill>
                  <a:srgbClr val="006B45"/>
                </a:solidFill>
                <a:latin typeface="Courier New"/>
                <a:ea typeface="Courier New"/>
                <a:cs typeface="Courier New"/>
              </a:rPr>
              <a:t>si raw &gt;= 650 : allumer</a:t>
            </a:r>
            <a:endParaRPr sz="1000"/>
          </a:p>
          <a:p>
            <a:pPr marL="0" indent="0">
              <a:buNone/>
            </a:pPr>
            <a:r>
              <a:rPr sz="1000">
                <a:solidFill>
                  <a:srgbClr val="006B45"/>
                </a:solidFill>
                <a:latin typeface="Courier New"/>
                <a:ea typeface="Courier New"/>
                <a:cs typeface="Courier New"/>
              </a:rPr>
              <a:t>si raw &lt;= 450 : éteindre</a:t>
            </a:r>
            <a:endParaRPr sz="1000"/>
          </a:p>
          <a:p>
            <a:pPr marL="0" indent="0">
              <a:buNone/>
            </a:pPr>
            <a:r>
              <a:rPr sz="1000">
                <a:solidFill>
                  <a:srgbClr val="006B45"/>
                </a:solidFill>
                <a:latin typeface="Courier New"/>
                <a:ea typeface="Courier New"/>
                <a:cs typeface="Courier New"/>
              </a:rPr>
              <a:t>sinon         : ne rien changer</a:t>
            </a:r>
            <a:endParaRPr sz="1000"/>
          </a:p>
        </p:txBody>
      </p:sp>
      <p:sp>
        <p:nvSpPr>
          <p:cNvPr id="21" name="Shape 18">
            <a:extLst>
              <a:ext uri="{FF2B5EF4-FFF2-40B4-BE49-F238E27FC236}">
                <a16:creationId xmlns:a16="http://schemas.microsoft.com/office/drawing/2014/main" id="{92FB76FE-400B-475A-A7F4-4B1BB4015251}"/>
              </a:ext>
            </a:extLst>
          </p:cNvPr>
          <p:cNvSpPr>
            <a:spLocks noGrp="1"/>
          </p:cNvSpPr>
          <p:nvPr/>
        </p:nvSpPr>
        <p:spPr>
          <a:xfrm>
            <a:off x="4663440" y="2926080"/>
            <a:ext cx="4023360" cy="1691640"/>
          </a:xfrm>
          <a:prstGeom prst="roundRect">
            <a:avLst>
              <a:gd name="adj" fmla="val 4324"/>
            </a:avLst>
          </a:prstGeom>
          <a:solidFill>
            <a:srgbClr val="F2F6F3"/>
          </a:solidFill>
          <a:ln w="9525">
            <a:solidFill>
              <a:srgbClr val="B9CEC0"/>
            </a:solidFill>
            <a:prstDash val="solid"/>
          </a:ln>
        </p:spPr>
        <p:txBody>
          <a:bodyPr/>
          <a:lstStyle/>
          <a:p>
            <a:endParaRPr lang="fr-FR"/>
          </a:p>
        </p:txBody>
      </p:sp>
      <p:sp>
        <p:nvSpPr>
          <p:cNvPr id="22" name="Text 19">
            <a:extLst>
              <a:ext uri="{FF2B5EF4-FFF2-40B4-BE49-F238E27FC236}">
                <a16:creationId xmlns:a16="http://schemas.microsoft.com/office/drawing/2014/main" id="{AA2F9D5E-C61B-4C22-8796-42192F4BEA89}"/>
              </a:ext>
            </a:extLst>
          </p:cNvPr>
          <p:cNvSpPr>
            <a:spLocks noGrp="1"/>
          </p:cNvSpPr>
          <p:nvPr/>
        </p:nvSpPr>
        <p:spPr>
          <a:xfrm>
            <a:off x="4846320" y="3044952"/>
            <a:ext cx="3657600" cy="228600"/>
          </a:xfrm>
          <a:prstGeom prst="rect">
            <a:avLst/>
          </a:prstGeom>
          <a:noFill/>
        </p:spPr>
        <p:txBody>
          <a:bodyPr wrap="square" lIns="0" tIns="0" rIns="0" bIns="0" anchor="t"/>
          <a:lstStyle/>
          <a:p>
            <a:pPr marL="0" indent="0">
              <a:buNone/>
            </a:pPr>
            <a:r>
              <a:rPr sz="1200" b="1">
                <a:solidFill>
                  <a:srgbClr val="142820"/>
                </a:solidFill>
                <a:latin typeface="Calibri"/>
                <a:ea typeface="Calibri"/>
                <a:cs typeface="Calibri"/>
              </a:rPr>
              <a:t>Testé sur le vrai montage (23/09)</a:t>
            </a:r>
            <a:endParaRPr sz="1200"/>
          </a:p>
        </p:txBody>
      </p:sp>
      <p:sp>
        <p:nvSpPr>
          <p:cNvPr id="23" name="Text 20">
            <a:extLst>
              <a:ext uri="{FF2B5EF4-FFF2-40B4-BE49-F238E27FC236}">
                <a16:creationId xmlns:a16="http://schemas.microsoft.com/office/drawing/2014/main" id="{70FA397A-7F55-4CA8-A64E-49839B7EB85D}"/>
              </a:ext>
            </a:extLst>
          </p:cNvPr>
          <p:cNvSpPr>
            <a:spLocks noGrp="1"/>
          </p:cNvSpPr>
          <p:nvPr/>
        </p:nvSpPr>
        <p:spPr>
          <a:xfrm>
            <a:off x="4846320" y="3364992"/>
            <a:ext cx="3657600" cy="1188720"/>
          </a:xfrm>
          <a:prstGeom prst="rect">
            <a:avLst/>
          </a:prstGeom>
          <a:noFill/>
        </p:spPr>
        <p:txBody>
          <a:bodyPr wrap="square" lIns="0" tIns="0" rIns="0" bIns="0" anchor="t"/>
          <a:lstStyle/>
          <a:p>
            <a:pPr marL="152400" indent="-152400">
              <a:spcAft>
                <a:spcPts val="500"/>
              </a:spcAft>
              <a:buSzPct val="100000"/>
              <a:buChar char="•"/>
            </a:pPr>
            <a:r>
              <a:rPr sz="1200">
                <a:solidFill>
                  <a:srgbClr val="142820"/>
                </a:solidFill>
                <a:latin typeface="Calibri"/>
                <a:ea typeface="Calibri"/>
                <a:cs typeface="Calibri"/>
              </a:rPr>
              <a:t>Capteur couvert : LED allumée</a:t>
            </a:r>
            <a:endParaRPr sz="1200"/>
          </a:p>
          <a:p>
            <a:pPr marL="152400" indent="-152400">
              <a:spcAft>
                <a:spcPts val="500"/>
              </a:spcAft>
              <a:buSzPct val="100000"/>
              <a:buChar char="•"/>
            </a:pPr>
            <a:r>
              <a:rPr sz="1200">
                <a:solidFill>
                  <a:srgbClr val="142820"/>
                </a:solidFill>
                <a:latin typeface="Calibri"/>
                <a:ea typeface="Calibri"/>
                <a:cs typeface="Calibri"/>
              </a:rPr>
              <a:t>Capteur découvert : LED éteinte</a:t>
            </a:r>
            <a:endParaRPr sz="1200"/>
          </a:p>
          <a:p>
            <a:pPr marL="152400" indent="-152400">
              <a:spcAft>
                <a:spcPts val="500"/>
              </a:spcAft>
              <a:buSzPct val="100000"/>
              <a:buChar char="•"/>
            </a:pPr>
            <a:r>
              <a:rPr sz="1200">
                <a:solidFill>
                  <a:srgbClr val="142820"/>
                </a:solidFill>
                <a:latin typeface="Calibri"/>
                <a:ea typeface="Calibri"/>
                <a:cs typeface="Calibri"/>
              </a:rPr>
              <a:t>Commande manuelle depuis le site</a:t>
            </a:r>
            <a:endParaRPr sz="1200"/>
          </a:p>
          <a:p>
            <a:pPr marL="152400" indent="-152400">
              <a:spcAft>
                <a:spcPts val="500"/>
              </a:spcAft>
              <a:buSzPct val="100000"/>
              <a:buChar char="•"/>
            </a:pPr>
            <a:r>
              <a:rPr sz="1200">
                <a:solidFill>
                  <a:srgbClr val="142820"/>
                </a:solidFill>
                <a:latin typeface="Calibri"/>
                <a:ea typeface="Calibri"/>
                <a:cs typeface="Calibri"/>
              </a:rPr>
              <a:t>Confirmation de chaque ordre</a:t>
            </a:r>
            <a:endParaRPr sz="1200"/>
          </a:p>
        </p:txBody>
      </p:sp>
    </p:spTree>
    <p:extLst>
      <p:ext uri="{BB962C8B-B14F-4D97-AF65-F5344CB8AC3E}">
        <p14:creationId xmlns:p14="http://schemas.microsoft.com/office/powerpoint/2010/main" val="435077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4F670AB-ED96-4A50-99DC-DFCB41FF4CEB}"/>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GESTION DE CRISE</a:t>
            </a:r>
            <a:endParaRPr sz="1000"/>
          </a:p>
        </p:txBody>
      </p:sp>
      <p:sp>
        <p:nvSpPr>
          <p:cNvPr id="4" name="Text 1">
            <a:extLst>
              <a:ext uri="{FF2B5EF4-FFF2-40B4-BE49-F238E27FC236}">
                <a16:creationId xmlns:a16="http://schemas.microsoft.com/office/drawing/2014/main" id="{90D46D88-D7B4-4647-9BF0-9F781578DE4D}"/>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Survival Mode : prioriser les cultures</a:t>
            </a:r>
            <a:endParaRPr sz="2800"/>
          </a:p>
        </p:txBody>
      </p:sp>
      <p:sp>
        <p:nvSpPr>
          <p:cNvPr id="5" name="Text 2">
            <a:extLst>
              <a:ext uri="{FF2B5EF4-FFF2-40B4-BE49-F238E27FC236}">
                <a16:creationId xmlns:a16="http://schemas.microsoft.com/office/drawing/2014/main" id="{1B5CD35E-BCDB-42BB-89C0-8C871B495C3B}"/>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9 / 12</a:t>
            </a:r>
            <a:endParaRPr sz="900"/>
          </a:p>
        </p:txBody>
      </p:sp>
      <p:sp>
        <p:nvSpPr>
          <p:cNvPr id="6" name="Shape 3">
            <a:extLst>
              <a:ext uri="{FF2B5EF4-FFF2-40B4-BE49-F238E27FC236}">
                <a16:creationId xmlns:a16="http://schemas.microsoft.com/office/drawing/2014/main" id="{28E38D6C-AD29-470F-80EC-428C962666E4}"/>
              </a:ext>
            </a:extLst>
          </p:cNvPr>
          <p:cNvSpPr>
            <a:spLocks noGrp="1"/>
          </p:cNvSpPr>
          <p:nvPr/>
        </p:nvSpPr>
        <p:spPr>
          <a:xfrm>
            <a:off x="7708392" y="274320"/>
            <a:ext cx="886968" cy="256032"/>
          </a:xfrm>
          <a:prstGeom prst="roundRect">
            <a:avLst>
              <a:gd name="adj" fmla="val 50000"/>
            </a:avLst>
          </a:prstGeom>
          <a:solidFill>
            <a:srgbClr val="FFF1CE"/>
          </a:solidFill>
          <a:ln w="9525">
            <a:solidFill>
              <a:srgbClr val="955000"/>
            </a:solidFill>
            <a:prstDash val="solid"/>
          </a:ln>
        </p:spPr>
        <p:txBody>
          <a:bodyPr/>
          <a:lstStyle/>
          <a:p>
            <a:endParaRPr lang="fr-FR"/>
          </a:p>
        </p:txBody>
      </p:sp>
      <p:sp>
        <p:nvSpPr>
          <p:cNvPr id="7" name="Text 4">
            <a:extLst>
              <a:ext uri="{FF2B5EF4-FFF2-40B4-BE49-F238E27FC236}">
                <a16:creationId xmlns:a16="http://schemas.microsoft.com/office/drawing/2014/main" id="{6F70ADC9-9FD8-4FFB-8B5E-138B0A1E3453}"/>
              </a:ext>
            </a:extLst>
          </p:cNvPr>
          <p:cNvSpPr>
            <a:spLocks noGrp="1"/>
          </p:cNvSpPr>
          <p:nvPr/>
        </p:nvSpPr>
        <p:spPr>
          <a:xfrm>
            <a:off x="7708392" y="274320"/>
            <a:ext cx="886968" cy="256032"/>
          </a:xfrm>
          <a:prstGeom prst="rect">
            <a:avLst/>
          </a:prstGeom>
          <a:noFill/>
        </p:spPr>
        <p:txBody>
          <a:bodyPr wrap="square" lIns="0" tIns="0" rIns="0" bIns="0" anchor="ctr"/>
          <a:lstStyle/>
          <a:p>
            <a:pPr marL="0" indent="0" algn="ctr">
              <a:buNone/>
            </a:pPr>
            <a:r>
              <a:rPr sz="1000" b="1" spc="100">
                <a:solidFill>
                  <a:srgbClr val="955000"/>
                </a:solidFill>
                <a:latin typeface="Calibri"/>
                <a:ea typeface="Calibri"/>
                <a:cs typeface="Calibri"/>
              </a:rPr>
              <a:t>SIMULATION</a:t>
            </a:r>
            <a:endParaRPr sz="1000"/>
          </a:p>
        </p:txBody>
      </p:sp>
      <p:sp>
        <p:nvSpPr>
          <p:cNvPr id="8" name="Shape 5">
            <a:extLst>
              <a:ext uri="{FF2B5EF4-FFF2-40B4-BE49-F238E27FC236}">
                <a16:creationId xmlns:a16="http://schemas.microsoft.com/office/drawing/2014/main" id="{2364EAC1-D915-4A74-B6D4-FBA2DC5CF52A}"/>
              </a:ext>
            </a:extLst>
          </p:cNvPr>
          <p:cNvSpPr>
            <a:spLocks noGrp="1"/>
          </p:cNvSpPr>
          <p:nvPr/>
        </p:nvSpPr>
        <p:spPr>
          <a:xfrm>
            <a:off x="457200" y="1234440"/>
            <a:ext cx="4937760" cy="3383280"/>
          </a:xfrm>
          <a:prstGeom prst="roundRect">
            <a:avLst>
              <a:gd name="adj" fmla="val 2162"/>
            </a:avLst>
          </a:prstGeom>
          <a:solidFill>
            <a:srgbClr val="F2F6F3"/>
          </a:solidFill>
          <a:ln w="9525">
            <a:solidFill>
              <a:srgbClr val="B9CEC0"/>
            </a:solidFill>
            <a:prstDash val="solid"/>
          </a:ln>
        </p:spPr>
        <p:txBody>
          <a:bodyPr/>
          <a:lstStyle/>
          <a:p>
            <a:endParaRPr lang="fr-FR"/>
          </a:p>
        </p:txBody>
      </p:sp>
      <p:graphicFrame>
        <p:nvGraphicFramePr>
          <p:cNvPr id="33" name="Chart 0"/>
          <p:cNvGraphicFramePr/>
          <p:nvPr/>
        </p:nvGraphicFramePr>
        <p:xfrm>
          <a:off x="594360" y="1325880"/>
          <a:ext cx="4663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a:extLst>
              <a:ext uri="{FF2B5EF4-FFF2-40B4-BE49-F238E27FC236}">
                <a16:creationId xmlns:a16="http://schemas.microsoft.com/office/drawing/2014/main" id="{01622D1A-81C1-4F84-8FE7-0C31315DAFB2}"/>
              </a:ext>
            </a:extLst>
          </p:cNvPr>
          <p:cNvSpPr>
            <a:spLocks noGrp="1"/>
          </p:cNvSpPr>
          <p:nvPr/>
        </p:nvSpPr>
        <p:spPr>
          <a:xfrm>
            <a:off x="5623560" y="1234440"/>
            <a:ext cx="3063240" cy="777240"/>
          </a:xfrm>
          <a:prstGeom prst="roundRect">
            <a:avLst>
              <a:gd name="adj" fmla="val 9412"/>
            </a:avLst>
          </a:prstGeom>
          <a:solidFill>
            <a:srgbClr val="F2F6F3"/>
          </a:solidFill>
          <a:ln w="9525">
            <a:solidFill>
              <a:srgbClr val="B9CEC0"/>
            </a:solidFill>
            <a:prstDash val="solid"/>
          </a:ln>
        </p:spPr>
        <p:txBody>
          <a:bodyPr/>
          <a:lstStyle/>
          <a:p>
            <a:endParaRPr lang="fr-FR"/>
          </a:p>
        </p:txBody>
      </p:sp>
      <p:sp>
        <p:nvSpPr>
          <p:cNvPr id="11" name="Shape 7">
            <a:extLst>
              <a:ext uri="{FF2B5EF4-FFF2-40B4-BE49-F238E27FC236}">
                <a16:creationId xmlns:a16="http://schemas.microsoft.com/office/drawing/2014/main" id="{42D21ADD-13BA-411D-8378-7887AFE397B1}"/>
              </a:ext>
            </a:extLst>
          </p:cNvPr>
          <p:cNvSpPr>
            <a:spLocks noGrp="1"/>
          </p:cNvSpPr>
          <p:nvPr/>
        </p:nvSpPr>
        <p:spPr>
          <a:xfrm>
            <a:off x="5760720" y="1389888"/>
            <a:ext cx="457200" cy="457200"/>
          </a:xfrm>
          <a:prstGeom prst="ellipse">
            <a:avLst/>
          </a:prstGeom>
          <a:solidFill>
            <a:srgbClr val="E7F3EB"/>
          </a:solidFill>
          <a:ln w="15875">
            <a:solidFill>
              <a:srgbClr val="006B45"/>
            </a:solidFill>
            <a:prstDash val="solid"/>
          </a:ln>
        </p:spPr>
        <p:txBody>
          <a:bodyPr/>
          <a:lstStyle/>
          <a:p>
            <a:endParaRPr lang="fr-FR"/>
          </a:p>
        </p:txBody>
      </p:sp>
      <p:sp>
        <p:nvSpPr>
          <p:cNvPr id="12" name="Text 8">
            <a:extLst>
              <a:ext uri="{FF2B5EF4-FFF2-40B4-BE49-F238E27FC236}">
                <a16:creationId xmlns:a16="http://schemas.microsoft.com/office/drawing/2014/main" id="{D07AB64F-ED27-4E16-97A9-628D5A03B669}"/>
              </a:ext>
            </a:extLst>
          </p:cNvPr>
          <p:cNvSpPr>
            <a:spLocks noGrp="1"/>
          </p:cNvSpPr>
          <p:nvPr/>
        </p:nvSpPr>
        <p:spPr>
          <a:xfrm>
            <a:off x="5760720" y="1389888"/>
            <a:ext cx="457200" cy="457200"/>
          </a:xfrm>
          <a:prstGeom prst="rect">
            <a:avLst/>
          </a:prstGeom>
          <a:noFill/>
        </p:spPr>
        <p:txBody>
          <a:bodyPr wrap="square" lIns="0" tIns="0" rIns="0" bIns="0" anchor="ctr"/>
          <a:lstStyle/>
          <a:p>
            <a:pPr marL="0" indent="0" algn="ctr">
              <a:buNone/>
            </a:pPr>
            <a:r>
              <a:rPr sz="1100" b="1">
                <a:solidFill>
                  <a:srgbClr val="006B45"/>
                </a:solidFill>
                <a:latin typeface="Arial"/>
                <a:ea typeface="Arial"/>
                <a:cs typeface="Arial"/>
              </a:rPr>
              <a:t>1</a:t>
            </a:r>
            <a:endParaRPr sz="1100"/>
          </a:p>
        </p:txBody>
      </p:sp>
      <p:sp>
        <p:nvSpPr>
          <p:cNvPr id="13" name="Text 9">
            <a:extLst>
              <a:ext uri="{FF2B5EF4-FFF2-40B4-BE49-F238E27FC236}">
                <a16:creationId xmlns:a16="http://schemas.microsoft.com/office/drawing/2014/main" id="{B23DBD1F-8AB8-41D2-850E-E181D6F085D6}"/>
              </a:ext>
            </a:extLst>
          </p:cNvPr>
          <p:cNvSpPr>
            <a:spLocks noGrp="1"/>
          </p:cNvSpPr>
          <p:nvPr/>
        </p:nvSpPr>
        <p:spPr>
          <a:xfrm>
            <a:off x="6355080" y="1353312"/>
            <a:ext cx="2240280" cy="274320"/>
          </a:xfrm>
          <a:prstGeom prst="rect">
            <a:avLst/>
          </a:prstGeom>
          <a:noFill/>
        </p:spPr>
        <p:txBody>
          <a:bodyPr wrap="square" lIns="0" tIns="0" rIns="0" bIns="0" anchor="t"/>
          <a:lstStyle/>
          <a:p>
            <a:pPr marL="0" indent="0">
              <a:buNone/>
            </a:pPr>
            <a:r>
              <a:rPr sz="1400" b="1">
                <a:solidFill>
                  <a:srgbClr val="142820"/>
                </a:solidFill>
                <a:latin typeface="Calibri"/>
                <a:ea typeface="Calibri"/>
                <a:cs typeface="Calibri"/>
              </a:rPr>
              <a:t>Laitue : protégée</a:t>
            </a:r>
            <a:endParaRPr sz="1400"/>
          </a:p>
        </p:txBody>
      </p:sp>
      <p:sp>
        <p:nvSpPr>
          <p:cNvPr id="14" name="Text 10">
            <a:extLst>
              <a:ext uri="{FF2B5EF4-FFF2-40B4-BE49-F238E27FC236}">
                <a16:creationId xmlns:a16="http://schemas.microsoft.com/office/drawing/2014/main" id="{3555ABAE-05B0-4B3C-9EC9-DC499F87D7AF}"/>
              </a:ext>
            </a:extLst>
          </p:cNvPr>
          <p:cNvSpPr>
            <a:spLocks noGrp="1"/>
          </p:cNvSpPr>
          <p:nvPr/>
        </p:nvSpPr>
        <p:spPr>
          <a:xfrm>
            <a:off x="6355080" y="1645920"/>
            <a:ext cx="2240280" cy="228600"/>
          </a:xfrm>
          <a:prstGeom prst="rect">
            <a:avLst/>
          </a:prstGeom>
          <a:noFill/>
        </p:spPr>
        <p:txBody>
          <a:bodyPr wrap="square" lIns="0" tIns="0" rIns="0" bIns="0" anchor="t"/>
          <a:lstStyle/>
          <a:p>
            <a:pPr marL="0" indent="0">
              <a:buNone/>
            </a:pPr>
            <a:r>
              <a:rPr sz="1100">
                <a:solidFill>
                  <a:srgbClr val="43574D"/>
                </a:solidFill>
                <a:latin typeface="Calibri"/>
                <a:ea typeface="Calibri"/>
                <a:cs typeface="Calibri"/>
              </a:rPr>
              <a:t>culture principale</a:t>
            </a:r>
            <a:endParaRPr sz="1100"/>
          </a:p>
        </p:txBody>
      </p:sp>
      <p:sp>
        <p:nvSpPr>
          <p:cNvPr id="15" name="Shape 11">
            <a:extLst>
              <a:ext uri="{FF2B5EF4-FFF2-40B4-BE49-F238E27FC236}">
                <a16:creationId xmlns:a16="http://schemas.microsoft.com/office/drawing/2014/main" id="{F0969FAC-359B-40C1-BF03-21DF79B764F8}"/>
              </a:ext>
            </a:extLst>
          </p:cNvPr>
          <p:cNvSpPr>
            <a:spLocks noGrp="1"/>
          </p:cNvSpPr>
          <p:nvPr/>
        </p:nvSpPr>
        <p:spPr>
          <a:xfrm>
            <a:off x="5623560" y="2167128"/>
            <a:ext cx="3063240" cy="777240"/>
          </a:xfrm>
          <a:prstGeom prst="roundRect">
            <a:avLst>
              <a:gd name="adj" fmla="val 9412"/>
            </a:avLst>
          </a:prstGeom>
          <a:solidFill>
            <a:srgbClr val="F2F6F3"/>
          </a:solidFill>
          <a:ln w="9525">
            <a:solidFill>
              <a:srgbClr val="B9CEC0"/>
            </a:solidFill>
            <a:prstDash val="solid"/>
          </a:ln>
        </p:spPr>
        <p:txBody>
          <a:bodyPr/>
          <a:lstStyle/>
          <a:p>
            <a:endParaRPr lang="fr-FR"/>
          </a:p>
        </p:txBody>
      </p:sp>
      <p:sp>
        <p:nvSpPr>
          <p:cNvPr id="16" name="Shape 12">
            <a:extLst>
              <a:ext uri="{FF2B5EF4-FFF2-40B4-BE49-F238E27FC236}">
                <a16:creationId xmlns:a16="http://schemas.microsoft.com/office/drawing/2014/main" id="{223AE694-4F7F-4116-B1FD-EF5576B2003D}"/>
              </a:ext>
            </a:extLst>
          </p:cNvPr>
          <p:cNvSpPr>
            <a:spLocks noGrp="1"/>
          </p:cNvSpPr>
          <p:nvPr/>
        </p:nvSpPr>
        <p:spPr>
          <a:xfrm>
            <a:off x="5760720" y="2322576"/>
            <a:ext cx="457200" cy="457200"/>
          </a:xfrm>
          <a:prstGeom prst="ellipse">
            <a:avLst/>
          </a:prstGeom>
          <a:solidFill>
            <a:srgbClr val="FFF1CE"/>
          </a:solidFill>
          <a:ln w="15875">
            <a:solidFill>
              <a:srgbClr val="955000"/>
            </a:solidFill>
            <a:prstDash val="solid"/>
          </a:ln>
        </p:spPr>
        <p:txBody>
          <a:bodyPr/>
          <a:lstStyle/>
          <a:p>
            <a:endParaRPr lang="fr-FR"/>
          </a:p>
        </p:txBody>
      </p:sp>
      <p:sp>
        <p:nvSpPr>
          <p:cNvPr id="17" name="Text 13">
            <a:extLst>
              <a:ext uri="{FF2B5EF4-FFF2-40B4-BE49-F238E27FC236}">
                <a16:creationId xmlns:a16="http://schemas.microsoft.com/office/drawing/2014/main" id="{052B8CF3-8874-4310-A3E7-5C9BBDEDDAE8}"/>
              </a:ext>
            </a:extLst>
          </p:cNvPr>
          <p:cNvSpPr>
            <a:spLocks noGrp="1"/>
          </p:cNvSpPr>
          <p:nvPr/>
        </p:nvSpPr>
        <p:spPr>
          <a:xfrm>
            <a:off x="5760720" y="2322576"/>
            <a:ext cx="457200" cy="457200"/>
          </a:xfrm>
          <a:prstGeom prst="rect">
            <a:avLst/>
          </a:prstGeom>
          <a:noFill/>
        </p:spPr>
        <p:txBody>
          <a:bodyPr wrap="square" lIns="0" tIns="0" rIns="0" bIns="0" anchor="ctr"/>
          <a:lstStyle/>
          <a:p>
            <a:pPr marL="0" indent="0" algn="ctr">
              <a:buNone/>
            </a:pPr>
            <a:r>
              <a:rPr sz="1100" b="1">
                <a:solidFill>
                  <a:srgbClr val="955000"/>
                </a:solidFill>
                <a:latin typeface="Arial"/>
                <a:ea typeface="Arial"/>
                <a:cs typeface="Arial"/>
              </a:rPr>
              <a:t>2</a:t>
            </a:r>
            <a:endParaRPr sz="1100"/>
          </a:p>
        </p:txBody>
      </p:sp>
      <p:sp>
        <p:nvSpPr>
          <p:cNvPr id="18" name="Text 14">
            <a:extLst>
              <a:ext uri="{FF2B5EF4-FFF2-40B4-BE49-F238E27FC236}">
                <a16:creationId xmlns:a16="http://schemas.microsoft.com/office/drawing/2014/main" id="{5DCA4117-A017-4800-BE49-1D2E6C286628}"/>
              </a:ext>
            </a:extLst>
          </p:cNvPr>
          <p:cNvSpPr>
            <a:spLocks noGrp="1"/>
          </p:cNvSpPr>
          <p:nvPr/>
        </p:nvSpPr>
        <p:spPr>
          <a:xfrm>
            <a:off x="6355080" y="2286000"/>
            <a:ext cx="2240280" cy="274320"/>
          </a:xfrm>
          <a:prstGeom prst="rect">
            <a:avLst/>
          </a:prstGeom>
          <a:noFill/>
        </p:spPr>
        <p:txBody>
          <a:bodyPr wrap="square" lIns="0" tIns="0" rIns="0" bIns="0" anchor="t"/>
          <a:lstStyle/>
          <a:p>
            <a:pPr marL="0" indent="0">
              <a:buNone/>
            </a:pPr>
            <a:r>
              <a:rPr sz="1400" b="1">
                <a:solidFill>
                  <a:srgbClr val="142820"/>
                </a:solidFill>
                <a:latin typeface="Calibri"/>
                <a:ea typeface="Calibri"/>
                <a:cs typeface="Calibri"/>
              </a:rPr>
              <a:t>Basilic : réduit</a:t>
            </a:r>
            <a:endParaRPr sz="1400"/>
          </a:p>
        </p:txBody>
      </p:sp>
      <p:sp>
        <p:nvSpPr>
          <p:cNvPr id="19" name="Text 15">
            <a:extLst>
              <a:ext uri="{FF2B5EF4-FFF2-40B4-BE49-F238E27FC236}">
                <a16:creationId xmlns:a16="http://schemas.microsoft.com/office/drawing/2014/main" id="{A11C051C-4126-42A9-AB15-FEF8AB9AA153}"/>
              </a:ext>
            </a:extLst>
          </p:cNvPr>
          <p:cNvSpPr>
            <a:spLocks noGrp="1"/>
          </p:cNvSpPr>
          <p:nvPr/>
        </p:nvSpPr>
        <p:spPr>
          <a:xfrm>
            <a:off x="6355080" y="2578608"/>
            <a:ext cx="2240280" cy="228600"/>
          </a:xfrm>
          <a:prstGeom prst="rect">
            <a:avLst/>
          </a:prstGeom>
          <a:noFill/>
        </p:spPr>
        <p:txBody>
          <a:bodyPr wrap="square" lIns="0" tIns="0" rIns="0" bIns="0" anchor="t"/>
          <a:lstStyle/>
          <a:p>
            <a:pPr marL="0" indent="0">
              <a:buNone/>
            </a:pPr>
            <a:r>
              <a:rPr sz="1100">
                <a:solidFill>
                  <a:srgbClr val="43574D"/>
                </a:solidFill>
                <a:latin typeface="Calibri"/>
                <a:ea typeface="Calibri"/>
                <a:cs typeface="Calibri"/>
              </a:rPr>
              <a:t>culture secondaire</a:t>
            </a:r>
            <a:endParaRPr sz="1100"/>
          </a:p>
        </p:txBody>
      </p:sp>
      <p:sp>
        <p:nvSpPr>
          <p:cNvPr id="20" name="Shape 16">
            <a:extLst>
              <a:ext uri="{FF2B5EF4-FFF2-40B4-BE49-F238E27FC236}">
                <a16:creationId xmlns:a16="http://schemas.microsoft.com/office/drawing/2014/main" id="{CA138B34-8488-499C-929C-E292374F6E84}"/>
              </a:ext>
            </a:extLst>
          </p:cNvPr>
          <p:cNvSpPr>
            <a:spLocks noGrp="1"/>
          </p:cNvSpPr>
          <p:nvPr/>
        </p:nvSpPr>
        <p:spPr>
          <a:xfrm>
            <a:off x="5623560" y="3099816"/>
            <a:ext cx="3063240" cy="777240"/>
          </a:xfrm>
          <a:prstGeom prst="roundRect">
            <a:avLst>
              <a:gd name="adj" fmla="val 9412"/>
            </a:avLst>
          </a:prstGeom>
          <a:solidFill>
            <a:srgbClr val="F2F6F3"/>
          </a:solidFill>
          <a:ln w="9525">
            <a:solidFill>
              <a:srgbClr val="B9CEC0"/>
            </a:solidFill>
            <a:prstDash val="solid"/>
          </a:ln>
        </p:spPr>
        <p:txBody>
          <a:bodyPr/>
          <a:lstStyle/>
          <a:p>
            <a:endParaRPr lang="fr-FR"/>
          </a:p>
        </p:txBody>
      </p:sp>
      <p:sp>
        <p:nvSpPr>
          <p:cNvPr id="21" name="Shape 17">
            <a:extLst>
              <a:ext uri="{FF2B5EF4-FFF2-40B4-BE49-F238E27FC236}">
                <a16:creationId xmlns:a16="http://schemas.microsoft.com/office/drawing/2014/main" id="{F45AFF33-78ED-473C-BC52-21CEAE2FE9C6}"/>
              </a:ext>
            </a:extLst>
          </p:cNvPr>
          <p:cNvSpPr>
            <a:spLocks noGrp="1"/>
          </p:cNvSpPr>
          <p:nvPr/>
        </p:nvSpPr>
        <p:spPr>
          <a:xfrm>
            <a:off x="5760720" y="3255264"/>
            <a:ext cx="457200" cy="457200"/>
          </a:xfrm>
          <a:prstGeom prst="ellipse">
            <a:avLst/>
          </a:prstGeom>
          <a:solidFill>
            <a:srgbClr val="FCEAE6"/>
          </a:solidFill>
          <a:ln w="15875">
            <a:solidFill>
              <a:srgbClr val="B33123"/>
            </a:solidFill>
            <a:prstDash val="solid"/>
          </a:ln>
        </p:spPr>
        <p:txBody>
          <a:bodyPr/>
          <a:lstStyle/>
          <a:p>
            <a:endParaRPr lang="fr-FR"/>
          </a:p>
        </p:txBody>
      </p:sp>
      <p:sp>
        <p:nvSpPr>
          <p:cNvPr id="22" name="Text 18">
            <a:extLst>
              <a:ext uri="{FF2B5EF4-FFF2-40B4-BE49-F238E27FC236}">
                <a16:creationId xmlns:a16="http://schemas.microsoft.com/office/drawing/2014/main" id="{1E22B28A-7070-43E6-80FB-FF2A7809DFC2}"/>
              </a:ext>
            </a:extLst>
          </p:cNvPr>
          <p:cNvSpPr>
            <a:spLocks noGrp="1"/>
          </p:cNvSpPr>
          <p:nvPr/>
        </p:nvSpPr>
        <p:spPr>
          <a:xfrm>
            <a:off x="5760720" y="3255264"/>
            <a:ext cx="457200" cy="457200"/>
          </a:xfrm>
          <a:prstGeom prst="rect">
            <a:avLst/>
          </a:prstGeom>
          <a:noFill/>
        </p:spPr>
        <p:txBody>
          <a:bodyPr wrap="square" lIns="0" tIns="0" rIns="0" bIns="0" anchor="ctr"/>
          <a:lstStyle/>
          <a:p>
            <a:pPr marL="0" indent="0" algn="ctr">
              <a:buNone/>
            </a:pPr>
            <a:r>
              <a:rPr sz="1100" b="1">
                <a:solidFill>
                  <a:srgbClr val="B33123"/>
                </a:solidFill>
                <a:latin typeface="Arial"/>
                <a:ea typeface="Arial"/>
                <a:cs typeface="Arial"/>
              </a:rPr>
              <a:t>3</a:t>
            </a:r>
            <a:endParaRPr sz="1100"/>
          </a:p>
        </p:txBody>
      </p:sp>
      <p:sp>
        <p:nvSpPr>
          <p:cNvPr id="23" name="Text 19">
            <a:extLst>
              <a:ext uri="{FF2B5EF4-FFF2-40B4-BE49-F238E27FC236}">
                <a16:creationId xmlns:a16="http://schemas.microsoft.com/office/drawing/2014/main" id="{A01F8B60-7AF8-46BB-91AC-D16A468D9352}"/>
              </a:ext>
            </a:extLst>
          </p:cNvPr>
          <p:cNvSpPr>
            <a:spLocks noGrp="1"/>
          </p:cNvSpPr>
          <p:nvPr/>
        </p:nvSpPr>
        <p:spPr>
          <a:xfrm>
            <a:off x="6355080" y="3218688"/>
            <a:ext cx="2240280" cy="274320"/>
          </a:xfrm>
          <a:prstGeom prst="rect">
            <a:avLst/>
          </a:prstGeom>
          <a:noFill/>
        </p:spPr>
        <p:txBody>
          <a:bodyPr wrap="square" lIns="0" tIns="0" rIns="0" bIns="0" anchor="t"/>
          <a:lstStyle/>
          <a:p>
            <a:pPr marL="0" indent="0">
              <a:buNone/>
            </a:pPr>
            <a:r>
              <a:rPr sz="1400" b="1">
                <a:solidFill>
                  <a:srgbClr val="142820"/>
                </a:solidFill>
                <a:latin typeface="Calibri"/>
                <a:ea typeface="Calibri"/>
                <a:cs typeface="Calibri"/>
              </a:rPr>
              <a:t>Tomate : en pause</a:t>
            </a:r>
            <a:endParaRPr sz="1400"/>
          </a:p>
        </p:txBody>
      </p:sp>
      <p:sp>
        <p:nvSpPr>
          <p:cNvPr id="24" name="Text 20">
            <a:extLst>
              <a:ext uri="{FF2B5EF4-FFF2-40B4-BE49-F238E27FC236}">
                <a16:creationId xmlns:a16="http://schemas.microsoft.com/office/drawing/2014/main" id="{0325D78F-84AC-441D-874F-4FD30B747CA6}"/>
              </a:ext>
            </a:extLst>
          </p:cNvPr>
          <p:cNvSpPr>
            <a:spLocks noGrp="1"/>
          </p:cNvSpPr>
          <p:nvPr/>
        </p:nvSpPr>
        <p:spPr>
          <a:xfrm>
            <a:off x="6355080" y="3511296"/>
            <a:ext cx="2240280" cy="228600"/>
          </a:xfrm>
          <a:prstGeom prst="rect">
            <a:avLst/>
          </a:prstGeom>
          <a:noFill/>
        </p:spPr>
        <p:txBody>
          <a:bodyPr wrap="square" lIns="0" tIns="0" rIns="0" bIns="0" anchor="t"/>
          <a:lstStyle/>
          <a:p>
            <a:pPr marL="0" indent="0">
              <a:buNone/>
            </a:pPr>
            <a:r>
              <a:rPr sz="1100">
                <a:solidFill>
                  <a:srgbClr val="43574D"/>
                </a:solidFill>
                <a:latin typeface="Calibri"/>
                <a:ea typeface="Calibri"/>
                <a:cs typeface="Calibri"/>
              </a:rPr>
              <a:t>culture expérimentale</a:t>
            </a:r>
            <a:endParaRPr sz="1100"/>
          </a:p>
        </p:txBody>
      </p:sp>
      <p:sp>
        <p:nvSpPr>
          <p:cNvPr id="25" name="Text 21">
            <a:extLst>
              <a:ext uri="{FF2B5EF4-FFF2-40B4-BE49-F238E27FC236}">
                <a16:creationId xmlns:a16="http://schemas.microsoft.com/office/drawing/2014/main" id="{B2FEFEF5-33F6-49CD-A18D-E03EC63E8910}"/>
              </a:ext>
            </a:extLst>
          </p:cNvPr>
          <p:cNvSpPr>
            <a:spLocks noGrp="1"/>
          </p:cNvSpPr>
          <p:nvPr/>
        </p:nvSpPr>
        <p:spPr>
          <a:xfrm>
            <a:off x="5619750" y="4029075"/>
            <a:ext cx="3067050" cy="762000"/>
          </a:xfrm>
          <a:prstGeom prst="rect">
            <a:avLst/>
          </a:prstGeom>
          <a:noFill/>
        </p:spPr>
        <p:txBody>
          <a:bodyPr wrap="square" lIns="0" tIns="0" rIns="0" bIns="0" anchor="t"/>
          <a:lstStyle/>
          <a:p>
            <a:pPr marL="0" indent="0">
              <a:buNone/>
              <a:defRPr sz="1050" i="0">
                <a:solidFill>
                  <a:srgbClr val="233C32"/>
                </a:solidFill>
              </a:defRPr>
            </a:pPr>
            <a:r>
              <a:rPr sz="1050" i="0">
                <a:solidFill>
                  <a:srgbClr val="233C32"/>
                </a:solidFill>
                <a:latin typeface="Calibri"/>
                <a:ea typeface="Calibri"/>
                <a:cs typeface="Calibri"/>
              </a:rPr>
              <a:t>Simulation sans effet matériel.</a:t>
            </a:r>
            <a:endParaRPr sz="1100"/>
          </a:p>
          <a:p>
            <a:pPr marL="0" indent="0">
              <a:buNone/>
              <a:defRPr sz="1050" i="0">
                <a:solidFill>
                  <a:srgbClr val="233C32"/>
                </a:solidFill>
              </a:defRPr>
            </a:pPr>
            <a:r>
              <a:rPr sz="1050" i="0">
                <a:solidFill>
                  <a:srgbClr val="233C32"/>
                </a:solidFill>
                <a:latin typeface="Calibri"/>
                <a:ea typeface="Calibri"/>
                <a:cs typeface="Calibri"/>
              </a:rPr>
              <a:t>Réserve du scénario : 40 %.</a:t>
            </a:r>
            <a:endParaRPr sz="1100"/>
          </a:p>
          <a:p>
            <a:pPr marL="0" indent="0">
              <a:buNone/>
              <a:defRPr sz="1050" i="0">
                <a:solidFill>
                  <a:srgbClr val="233C32"/>
                </a:solidFill>
              </a:defRPr>
            </a:pPr>
            <a:r>
              <a:rPr sz="1050" i="0">
                <a:solidFill>
                  <a:srgbClr val="233C32"/>
                </a:solidFill>
                <a:latin typeface="Calibri"/>
                <a:ea typeface="Calibri"/>
                <a:cs typeface="Calibri"/>
              </a:rPr>
              <a:t>Allocation affichée : 1,50 L/j, soit 62,5 % du débit normal.</a:t>
            </a:r>
            <a:endParaRPr sz="1100"/>
          </a:p>
        </p:txBody>
      </p:sp>
    </p:spTree>
    <p:extLst>
      <p:ext uri="{BB962C8B-B14F-4D97-AF65-F5344CB8AC3E}">
        <p14:creationId xmlns:p14="http://schemas.microsoft.com/office/powerpoint/2010/main" val="172909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133EED-8898-41ED-8228-E7CF6CC1014F}"/>
              </a:ext>
            </a:extLst>
          </p:cNvPr>
          <p:cNvSpPr>
            <a:spLocks noGrp="1"/>
          </p:cNvSpPr>
          <p:nvPr/>
        </p:nvSpPr>
        <p:spPr>
          <a:xfrm>
            <a:off x="457200" y="285750"/>
            <a:ext cx="8229600" cy="190500"/>
          </a:xfrm>
          <a:prstGeom prst="rect">
            <a:avLst/>
          </a:prstGeom>
          <a:noFill/>
          <a:ln w="0">
            <a:noFill/>
          </a:ln>
        </p:spPr>
        <p:txBody>
          <a:bodyPr>
            <a:noAutofit/>
          </a:bodyPr>
          <a:lstStyle/>
          <a:p>
            <a:pPr>
              <a:buNone/>
              <a:defRPr sz="900" b="1">
                <a:solidFill>
                  <a:srgbClr val="006B45"/>
                </a:solidFill>
                <a:latin typeface="Arial"/>
                <a:ea typeface="Arial"/>
                <a:cs typeface="Arial"/>
              </a:defRPr>
            </a:pPr>
            <a:r>
              <a:rPr sz="900" b="1">
                <a:solidFill>
                  <a:srgbClr val="006B45"/>
                </a:solidFill>
                <a:latin typeface="Arial"/>
                <a:ea typeface="Arial"/>
                <a:cs typeface="Arial"/>
              </a:rPr>
              <a:t>PÉRIMÈTRE DU PROJET</a:t>
            </a:r>
          </a:p>
        </p:txBody>
      </p:sp>
      <p:sp>
        <p:nvSpPr>
          <p:cNvPr id="2" name="Rectangle 1">
            <a:extLst>
              <a:ext uri="{FF2B5EF4-FFF2-40B4-BE49-F238E27FC236}">
                <a16:creationId xmlns:a16="http://schemas.microsoft.com/office/drawing/2014/main" id="{519B4BBA-DBC1-4034-994F-7BB51B26C404}"/>
              </a:ext>
            </a:extLst>
          </p:cNvPr>
          <p:cNvSpPr>
            <a:spLocks noGrp="1"/>
          </p:cNvSpPr>
          <p:nvPr/>
        </p:nvSpPr>
        <p:spPr>
          <a:xfrm>
            <a:off x="457200" y="552450"/>
            <a:ext cx="8229600" cy="666750"/>
          </a:xfrm>
          <a:prstGeom prst="rect">
            <a:avLst/>
          </a:prstGeom>
          <a:noFill/>
          <a:ln w="0">
            <a:noFill/>
          </a:ln>
        </p:spPr>
        <p:txBody>
          <a:bodyPr>
            <a:noAutofit/>
          </a:bodyPr>
          <a:lstStyle/>
          <a:p>
            <a:pPr>
              <a:buNone/>
              <a:defRPr sz="2700" b="1">
                <a:solidFill>
                  <a:srgbClr val="142820"/>
                </a:solidFill>
                <a:latin typeface="Arial"/>
                <a:ea typeface="Arial"/>
                <a:cs typeface="Arial"/>
              </a:defRPr>
            </a:pPr>
            <a:r>
              <a:rPr sz="2700" b="1">
                <a:solidFill>
                  <a:srgbClr val="142820"/>
                </a:solidFill>
                <a:latin typeface="Arial"/>
                <a:ea typeface="Arial"/>
                <a:cs typeface="Arial"/>
              </a:rPr>
              <a:t>Une démonstration centrée sur l’existant</a:t>
            </a:r>
          </a:p>
        </p:txBody>
      </p:sp>
      <p:sp>
        <p:nvSpPr>
          <p:cNvPr id="3" name="Rectangle 2">
            <a:extLst>
              <a:ext uri="{FF2B5EF4-FFF2-40B4-BE49-F238E27FC236}">
                <a16:creationId xmlns:a16="http://schemas.microsoft.com/office/drawing/2014/main" id="{5CEF256C-E6A4-4E6C-A343-C357004C76C9}"/>
              </a:ext>
            </a:extLst>
          </p:cNvPr>
          <p:cNvSpPr>
            <a:spLocks noGrp="1"/>
          </p:cNvSpPr>
          <p:nvPr/>
        </p:nvSpPr>
        <p:spPr>
          <a:xfrm>
            <a:off x="457200" y="1524000"/>
            <a:ext cx="4095750" cy="381000"/>
          </a:xfrm>
          <a:prstGeom prst="rect">
            <a:avLst/>
          </a:prstGeom>
          <a:noFill/>
          <a:ln w="0">
            <a:noFill/>
          </a:ln>
        </p:spPr>
        <p:txBody>
          <a:bodyPr>
            <a:noAutofit/>
          </a:bodyPr>
          <a:lstStyle/>
          <a:p>
            <a:pPr>
              <a:buNone/>
              <a:defRPr sz="1950" b="1">
                <a:solidFill>
                  <a:srgbClr val="006B45"/>
                </a:solidFill>
                <a:latin typeface="Arial"/>
                <a:ea typeface="Arial"/>
                <a:cs typeface="Arial"/>
              </a:defRPr>
            </a:pPr>
            <a:r>
              <a:rPr sz="1950" b="1">
                <a:solidFill>
                  <a:srgbClr val="006B45"/>
                </a:solidFill>
                <a:latin typeface="Arial"/>
                <a:ea typeface="Arial"/>
                <a:cs typeface="Arial"/>
              </a:rPr>
              <a:t>Fonctions présentées</a:t>
            </a:r>
          </a:p>
        </p:txBody>
      </p:sp>
      <p:sp>
        <p:nvSpPr>
          <p:cNvPr id="4" name="Rectangle 3">
            <a:extLst>
              <a:ext uri="{FF2B5EF4-FFF2-40B4-BE49-F238E27FC236}">
                <a16:creationId xmlns:a16="http://schemas.microsoft.com/office/drawing/2014/main" id="{42351CD8-667C-488C-A570-227AB01071AD}"/>
              </a:ext>
            </a:extLst>
          </p:cNvPr>
          <p:cNvSpPr>
            <a:spLocks noGrp="1"/>
          </p:cNvSpPr>
          <p:nvPr/>
        </p:nvSpPr>
        <p:spPr>
          <a:xfrm>
            <a:off x="457200" y="2076450"/>
            <a:ext cx="4286250" cy="1809750"/>
          </a:xfrm>
          <a:prstGeom prst="rect">
            <a:avLst/>
          </a:prstGeom>
          <a:noFill/>
          <a:ln w="0">
            <a:noFill/>
          </a:ln>
        </p:spPr>
        <p:txBody>
          <a:bodyPr>
            <a:noAutofit/>
          </a:bodyPr>
          <a:lstStyle/>
          <a:p>
            <a:pPr>
              <a:buNone/>
              <a:defRPr sz="1575" b="0">
                <a:solidFill>
                  <a:srgbClr val="142820"/>
                </a:solidFill>
                <a:latin typeface="Arial"/>
                <a:ea typeface="Arial"/>
                <a:cs typeface="Arial"/>
              </a:defRPr>
            </a:pPr>
            <a:r>
              <a:rPr sz="1575" b="0">
                <a:solidFill>
                  <a:srgbClr val="142820"/>
                </a:solidFill>
                <a:latin typeface="Arial"/>
                <a:ea typeface="Arial"/>
                <a:cs typeface="Arial"/>
              </a:rPr>
              <a:t>Quatre mesures actualisées</a:t>
            </a:r>
          </a:p>
          <a:p>
            <a:pPr>
              <a:buNone/>
              <a:defRPr sz="1575" b="0">
                <a:solidFill>
                  <a:srgbClr val="142820"/>
                </a:solidFill>
                <a:latin typeface="Arial"/>
                <a:ea typeface="Arial"/>
                <a:cs typeface="Arial"/>
              </a:defRPr>
            </a:pPr>
            <a:r>
              <a:rPr sz="1575" b="0">
                <a:solidFill>
                  <a:srgbClr val="142820"/>
                </a:solidFill>
                <a:latin typeface="Arial"/>
                <a:ea typeface="Arial"/>
                <a:cs typeface="Arial"/>
              </a:rPr>
              <a:t>Historique et alertes</a:t>
            </a:r>
          </a:p>
          <a:p>
            <a:pPr>
              <a:buNone/>
              <a:defRPr sz="1575" b="0">
                <a:solidFill>
                  <a:srgbClr val="142820"/>
                </a:solidFill>
                <a:latin typeface="Arial"/>
                <a:ea typeface="Arial"/>
                <a:cs typeface="Arial"/>
              </a:defRPr>
            </a:pPr>
            <a:r>
              <a:rPr sz="1575" b="0">
                <a:solidFill>
                  <a:srgbClr val="142820"/>
                </a:solidFill>
                <a:latin typeface="Arial"/>
                <a:ea typeface="Arial"/>
                <a:cs typeface="Arial"/>
              </a:rPr>
              <a:t>Éclairage automatique et manuel</a:t>
            </a:r>
          </a:p>
          <a:p>
            <a:pPr>
              <a:buNone/>
              <a:defRPr sz="1575" b="0">
                <a:solidFill>
                  <a:srgbClr val="142820"/>
                </a:solidFill>
                <a:latin typeface="Arial"/>
                <a:ea typeface="Arial"/>
                <a:cs typeface="Arial"/>
              </a:defRPr>
            </a:pPr>
            <a:r>
              <a:rPr sz="1575" b="0">
                <a:solidFill>
                  <a:srgbClr val="142820"/>
                </a:solidFill>
                <a:latin typeface="Arial"/>
                <a:ea typeface="Arial"/>
                <a:cs typeface="Arial"/>
              </a:rPr>
              <a:t>État de connexion du Raspberry Pi</a:t>
            </a:r>
          </a:p>
        </p:txBody>
      </p:sp>
      <p:sp>
        <p:nvSpPr>
          <p:cNvPr id="5" name="Rectangle 4">
            <a:extLst>
              <a:ext uri="{FF2B5EF4-FFF2-40B4-BE49-F238E27FC236}">
                <a16:creationId xmlns:a16="http://schemas.microsoft.com/office/drawing/2014/main" id="{A92E40A3-4B3E-49FB-969F-E077C3ACED20}"/>
              </a:ext>
            </a:extLst>
          </p:cNvPr>
          <p:cNvSpPr>
            <a:spLocks noGrp="1"/>
          </p:cNvSpPr>
          <p:nvPr/>
        </p:nvSpPr>
        <p:spPr>
          <a:xfrm>
            <a:off x="5286375" y="1524000"/>
            <a:ext cx="3400425" cy="381000"/>
          </a:xfrm>
          <a:prstGeom prst="rect">
            <a:avLst/>
          </a:prstGeom>
          <a:noFill/>
          <a:ln w="0">
            <a:noFill/>
          </a:ln>
        </p:spPr>
        <p:txBody>
          <a:bodyPr>
            <a:noAutofit/>
          </a:bodyPr>
          <a:lstStyle/>
          <a:p>
            <a:pPr>
              <a:buNone/>
              <a:defRPr sz="1950" b="1">
                <a:solidFill>
                  <a:srgbClr val="955000"/>
                </a:solidFill>
                <a:latin typeface="Arial"/>
                <a:ea typeface="Arial"/>
                <a:cs typeface="Arial"/>
              </a:defRPr>
            </a:pPr>
            <a:r>
              <a:rPr sz="1950" b="1">
                <a:solidFill>
                  <a:srgbClr val="955000"/>
                </a:solidFill>
                <a:latin typeface="Arial"/>
                <a:ea typeface="Arial"/>
                <a:cs typeface="Arial"/>
              </a:rPr>
              <a:t>Irrigation reportée</a:t>
            </a:r>
          </a:p>
        </p:txBody>
      </p:sp>
      <p:sp>
        <p:nvSpPr>
          <p:cNvPr id="6" name="Rectangle 5">
            <a:extLst>
              <a:ext uri="{FF2B5EF4-FFF2-40B4-BE49-F238E27FC236}">
                <a16:creationId xmlns:a16="http://schemas.microsoft.com/office/drawing/2014/main" id="{C69620FF-7DB6-4E24-A212-565F2F5C1E78}"/>
              </a:ext>
            </a:extLst>
          </p:cNvPr>
          <p:cNvSpPr>
            <a:spLocks noGrp="1"/>
          </p:cNvSpPr>
          <p:nvPr/>
        </p:nvSpPr>
        <p:spPr>
          <a:xfrm>
            <a:off x="5286375" y="2076450"/>
            <a:ext cx="3400425" cy="1809750"/>
          </a:xfrm>
          <a:prstGeom prst="rect">
            <a:avLst/>
          </a:prstGeom>
          <a:noFill/>
          <a:ln w="0">
            <a:noFill/>
          </a:ln>
        </p:spPr>
        <p:txBody>
          <a:bodyPr>
            <a:noAutofit/>
          </a:bodyPr>
          <a:lstStyle/>
          <a:p>
            <a:pPr>
              <a:buNone/>
              <a:defRPr sz="1575" b="0">
                <a:solidFill>
                  <a:srgbClr val="142820"/>
                </a:solidFill>
                <a:latin typeface="Arial"/>
                <a:ea typeface="Arial"/>
                <a:cs typeface="Arial"/>
              </a:defRPr>
            </a:pPr>
            <a:r>
              <a:rPr sz="1575" b="0">
                <a:solidFill>
                  <a:srgbClr val="142820"/>
                </a:solidFill>
                <a:latin typeface="Arial"/>
                <a:ea typeface="Arial"/>
                <a:cs typeface="Arial"/>
              </a:rPr>
              <a:t>Rendu du projet : vendredi.</a:t>
            </a:r>
          </a:p>
          <a:p>
            <a:pPr>
              <a:buNone/>
              <a:defRPr sz="1575" b="0">
                <a:solidFill>
                  <a:srgbClr val="142820"/>
                </a:solidFill>
                <a:latin typeface="Arial"/>
                <a:ea typeface="Arial"/>
                <a:cs typeface="Arial"/>
              </a:defRPr>
            </a:pPr>
            <a:r>
              <a:rPr sz="1575" b="0">
                <a:solidFill>
                  <a:srgbClr val="142820"/>
                </a:solidFill>
                <a:latin typeface="Arial"/>
                <a:ea typeface="Arial"/>
                <a:cs typeface="Arial"/>
              </a:rPr>
              <a:t>Arrivée du tuyau : lundi.</a:t>
            </a:r>
          </a:p>
          <a:p>
            <a:endParaRPr sz="1575" b="0">
              <a:solidFill>
                <a:srgbClr val="142820"/>
              </a:solidFill>
              <a:latin typeface="Arial"/>
              <a:ea typeface="Arial"/>
              <a:cs typeface="Arial"/>
            </a:endParaRPr>
          </a:p>
          <a:p>
            <a:pPr>
              <a:buNone/>
              <a:defRPr sz="1575" b="0">
                <a:solidFill>
                  <a:srgbClr val="142820"/>
                </a:solidFill>
                <a:latin typeface="Arial"/>
                <a:ea typeface="Arial"/>
                <a:cs typeface="Arial"/>
              </a:defRPr>
            </a:pPr>
            <a:r>
              <a:rPr sz="1575" b="0">
                <a:solidFill>
                  <a:srgbClr val="142820"/>
                </a:solidFill>
                <a:latin typeface="Arial"/>
                <a:ea typeface="Arial"/>
                <a:cs typeface="Arial"/>
              </a:rPr>
              <a:t>Le matériel ne sera pas disponible à temps. L’irrigation est reportée après le rendu.</a:t>
            </a:r>
          </a:p>
        </p:txBody>
      </p:sp>
      <p:sp>
        <p:nvSpPr>
          <p:cNvPr id="7" name="Rectangle 6">
            <a:extLst>
              <a:ext uri="{FF2B5EF4-FFF2-40B4-BE49-F238E27FC236}">
                <a16:creationId xmlns:a16="http://schemas.microsoft.com/office/drawing/2014/main" id="{8BA61C64-E5D3-430A-A919-15BC73B31474}"/>
              </a:ext>
            </a:extLst>
          </p:cNvPr>
          <p:cNvSpPr>
            <a:spLocks noGrp="1"/>
          </p:cNvSpPr>
          <p:nvPr/>
        </p:nvSpPr>
        <p:spPr>
          <a:xfrm>
            <a:off x="457200" y="4267200"/>
            <a:ext cx="8229600" cy="428625"/>
          </a:xfrm>
          <a:prstGeom prst="rect">
            <a:avLst/>
          </a:prstGeom>
          <a:noFill/>
          <a:ln w="0">
            <a:noFill/>
          </a:ln>
        </p:spPr>
        <p:txBody>
          <a:bodyPr>
            <a:noAutofit/>
          </a:bodyPr>
          <a:lstStyle/>
          <a:p>
            <a:pPr>
              <a:buNone/>
              <a:defRPr sz="1425" b="0">
                <a:solidFill>
                  <a:srgbClr val="233C32"/>
                </a:solidFill>
                <a:latin typeface="Arial"/>
                <a:ea typeface="Arial"/>
                <a:cs typeface="Arial"/>
              </a:defRPr>
            </a:pPr>
            <a:r>
              <a:rPr sz="1425" b="0">
                <a:solidFill>
                  <a:srgbClr val="233C32"/>
                </a:solidFill>
                <a:latin typeface="Arial"/>
                <a:ea typeface="Arial"/>
                <a:cs typeface="Arial"/>
              </a:rPr>
              <a:t>Pour vendredi : surveillance du niveau d’eau et pilotage de la LED, sans arrosage automatique.</a:t>
            </a:r>
          </a:p>
        </p:txBody>
      </p:sp>
      <p:sp>
        <p:nvSpPr>
          <p:cNvPr id="8" name="Rectangle 7">
            <a:extLst>
              <a:ext uri="{FF2B5EF4-FFF2-40B4-BE49-F238E27FC236}">
                <a16:creationId xmlns:a16="http://schemas.microsoft.com/office/drawing/2014/main" id="{1EAA6EFA-B04F-4A23-AE8E-C0EB2F931718}"/>
              </a:ext>
            </a:extLst>
          </p:cNvPr>
          <p:cNvSpPr>
            <a:spLocks noGrp="1"/>
          </p:cNvSpPr>
          <p:nvPr/>
        </p:nvSpPr>
        <p:spPr>
          <a:xfrm>
            <a:off x="7867650" y="4800600"/>
            <a:ext cx="819150" cy="190500"/>
          </a:xfrm>
          <a:prstGeom prst="rect">
            <a:avLst/>
          </a:prstGeom>
          <a:noFill/>
          <a:ln w="0">
            <a:noFill/>
          </a:ln>
        </p:spPr>
        <p:txBody>
          <a:bodyPr>
            <a:noAutofit/>
          </a:bodyPr>
          <a:lstStyle/>
          <a:p>
            <a:pPr>
              <a:buNone/>
              <a:defRPr sz="825" b="0">
                <a:solidFill>
                  <a:srgbClr val="43574D"/>
                </a:solidFill>
                <a:latin typeface="Arial"/>
                <a:ea typeface="Arial"/>
                <a:cs typeface="Arial"/>
              </a:defRPr>
            </a:pPr>
            <a:r>
              <a:rPr sz="825" b="0">
                <a:solidFill>
                  <a:srgbClr val="43574D"/>
                </a:solidFill>
                <a:latin typeface="Arial"/>
                <a:ea typeface="Arial"/>
                <a:cs typeface="Arial"/>
              </a:rPr>
              <a:t>10 / 12</a:t>
            </a:r>
          </a:p>
        </p:txBody>
      </p:sp>
    </p:spTree>
    <p:extLst>
      <p:ext uri="{BB962C8B-B14F-4D97-AF65-F5344CB8AC3E}">
        <p14:creationId xmlns:p14="http://schemas.microsoft.com/office/powerpoint/2010/main" val="103321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41BF6C6-2CD0-44B3-A20E-B4E34C99CA30}"/>
              </a:ext>
            </a:extLst>
          </p:cNvPr>
          <p:cNvSpPr>
            <a:spLocks noGrp="1"/>
          </p:cNvSpPr>
          <p:nvPr/>
        </p:nvSpPr>
        <p:spPr>
          <a:xfrm>
            <a:off x="457200" y="285750"/>
            <a:ext cx="6400800" cy="17145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BILAN</a:t>
            </a:r>
            <a:endParaRPr sz="1000"/>
          </a:p>
        </p:txBody>
      </p:sp>
      <p:sp>
        <p:nvSpPr>
          <p:cNvPr id="4" name="Text 1">
            <a:extLst>
              <a:ext uri="{FF2B5EF4-FFF2-40B4-BE49-F238E27FC236}">
                <a16:creationId xmlns:a16="http://schemas.microsoft.com/office/drawing/2014/main" id="{8FC96708-4ED1-4404-A3DA-8BA85B25CBD6}"/>
              </a:ext>
            </a:extLst>
          </p:cNvPr>
          <p:cNvSpPr>
            <a:spLocks noGrp="1"/>
          </p:cNvSpPr>
          <p:nvPr/>
        </p:nvSpPr>
        <p:spPr>
          <a:xfrm>
            <a:off x="457200" y="502920"/>
            <a:ext cx="8229600" cy="548640"/>
          </a:xfrm>
          <a:prstGeom prst="rect">
            <a:avLst/>
          </a:prstGeom>
          <a:noFill/>
        </p:spPr>
        <p:txBody>
          <a:bodyPr wrap="square" lIns="0" tIns="0" rIns="0" bIns="0" anchor="t"/>
          <a:lstStyle/>
          <a:p>
            <a:pPr marL="0" indent="0">
              <a:buNone/>
            </a:pPr>
            <a:r>
              <a:rPr sz="2800" b="1">
                <a:solidFill>
                  <a:srgbClr val="142820"/>
                </a:solidFill>
                <a:latin typeface="Arial"/>
                <a:ea typeface="Arial"/>
                <a:cs typeface="Arial"/>
              </a:rPr>
              <a:t>État du prototype</a:t>
            </a:r>
            <a:endParaRPr sz="2800"/>
          </a:p>
        </p:txBody>
      </p:sp>
      <p:sp>
        <p:nvSpPr>
          <p:cNvPr id="5" name="Text 2">
            <a:extLst>
              <a:ext uri="{FF2B5EF4-FFF2-40B4-BE49-F238E27FC236}">
                <a16:creationId xmlns:a16="http://schemas.microsoft.com/office/drawing/2014/main" id="{79A86AD1-065E-46AF-AE9E-097ED29A460E}"/>
              </a:ext>
            </a:extLst>
          </p:cNvPr>
          <p:cNvSpPr>
            <a:spLocks noGrp="1"/>
          </p:cNvSpPr>
          <p:nvPr/>
        </p:nvSpPr>
        <p:spPr>
          <a:xfrm>
            <a:off x="7863840" y="4800600"/>
            <a:ext cx="822960" cy="182880"/>
          </a:xfrm>
          <a:prstGeom prst="rect">
            <a:avLst/>
          </a:prstGeom>
          <a:noFill/>
        </p:spPr>
        <p:txBody>
          <a:bodyPr wrap="square" lIns="0" tIns="0" rIns="0" bIns="0" anchor="t"/>
          <a:lstStyle/>
          <a:p>
            <a:pPr marL="0" indent="0" algn="r">
              <a:buNone/>
            </a:pPr>
            <a:r>
              <a:rPr sz="900">
                <a:solidFill>
                  <a:srgbClr val="43574D"/>
                </a:solidFill>
                <a:latin typeface="Calibri"/>
                <a:ea typeface="Calibri"/>
                <a:cs typeface="Calibri"/>
              </a:rPr>
              <a:t>11 / 12</a:t>
            </a:r>
            <a:endParaRPr sz="900"/>
          </a:p>
        </p:txBody>
      </p:sp>
      <p:sp>
        <p:nvSpPr>
          <p:cNvPr id="6" name="Shape 3">
            <a:extLst>
              <a:ext uri="{FF2B5EF4-FFF2-40B4-BE49-F238E27FC236}">
                <a16:creationId xmlns:a16="http://schemas.microsoft.com/office/drawing/2014/main" id="{89806CEE-D4F6-4083-A7F7-2BFFCCC48CAF}"/>
              </a:ext>
            </a:extLst>
          </p:cNvPr>
          <p:cNvSpPr>
            <a:spLocks noGrp="1"/>
          </p:cNvSpPr>
          <p:nvPr/>
        </p:nvSpPr>
        <p:spPr>
          <a:xfrm>
            <a:off x="457200" y="1234440"/>
            <a:ext cx="2606040" cy="3383280"/>
          </a:xfrm>
          <a:prstGeom prst="roundRect">
            <a:avLst>
              <a:gd name="adj" fmla="val 2807"/>
            </a:avLst>
          </a:prstGeom>
          <a:noFill/>
          <a:ln w="0">
            <a:noFill/>
          </a:ln>
        </p:spPr>
        <p:txBody>
          <a:bodyPr/>
          <a:lstStyle/>
          <a:p>
            <a:endParaRPr lang="fr-FR"/>
          </a:p>
        </p:txBody>
      </p:sp>
      <p:sp>
        <p:nvSpPr>
          <p:cNvPr id="7" name="Shape 4">
            <a:extLst>
              <a:ext uri="{FF2B5EF4-FFF2-40B4-BE49-F238E27FC236}">
                <a16:creationId xmlns:a16="http://schemas.microsoft.com/office/drawing/2014/main" id="{4EA3BBE2-3A3E-4986-B54F-98F6324D3F6F}"/>
              </a:ext>
            </a:extLst>
          </p:cNvPr>
          <p:cNvSpPr>
            <a:spLocks noGrp="1"/>
          </p:cNvSpPr>
          <p:nvPr/>
        </p:nvSpPr>
        <p:spPr>
          <a:xfrm>
            <a:off x="640080" y="1389888"/>
            <a:ext cx="457200" cy="457200"/>
          </a:xfrm>
          <a:prstGeom prst="ellipse">
            <a:avLst/>
          </a:prstGeom>
          <a:solidFill>
            <a:srgbClr val="E7F3EB"/>
          </a:solidFill>
          <a:ln w="15875">
            <a:solidFill>
              <a:srgbClr val="006B45"/>
            </a:solidFill>
            <a:prstDash val="solid"/>
          </a:ln>
        </p:spPr>
        <p:txBody>
          <a:bodyPr/>
          <a:lstStyle/>
          <a:p>
            <a:endParaRPr lang="fr-FR"/>
          </a:p>
        </p:txBody>
      </p:sp>
      <p:sp>
        <p:nvSpPr>
          <p:cNvPr id="8" name="Text 5">
            <a:extLst>
              <a:ext uri="{FF2B5EF4-FFF2-40B4-BE49-F238E27FC236}">
                <a16:creationId xmlns:a16="http://schemas.microsoft.com/office/drawing/2014/main" id="{6A35B415-3D22-4FE2-8C1E-B239DA644441}"/>
              </a:ext>
            </a:extLst>
          </p:cNvPr>
          <p:cNvSpPr>
            <a:spLocks noGrp="1"/>
          </p:cNvSpPr>
          <p:nvPr/>
        </p:nvSpPr>
        <p:spPr>
          <a:xfrm>
            <a:off x="640080" y="1389888"/>
            <a:ext cx="457200" cy="457200"/>
          </a:xfrm>
          <a:prstGeom prst="rect">
            <a:avLst/>
          </a:prstGeom>
          <a:noFill/>
        </p:spPr>
        <p:txBody>
          <a:bodyPr wrap="square" lIns="0" tIns="0" rIns="0" bIns="0" anchor="ctr"/>
          <a:lstStyle/>
          <a:p>
            <a:pPr marL="0" indent="0" algn="ctr">
              <a:buNone/>
            </a:pPr>
            <a:r>
              <a:rPr sz="1100" b="1">
                <a:solidFill>
                  <a:srgbClr val="006B45"/>
                </a:solidFill>
                <a:latin typeface="Arial"/>
                <a:ea typeface="Arial"/>
                <a:cs typeface="Arial"/>
              </a:rPr>
              <a:t>✓</a:t>
            </a:r>
            <a:endParaRPr sz="1100"/>
          </a:p>
        </p:txBody>
      </p:sp>
      <p:sp>
        <p:nvSpPr>
          <p:cNvPr id="9" name="Text 6">
            <a:extLst>
              <a:ext uri="{FF2B5EF4-FFF2-40B4-BE49-F238E27FC236}">
                <a16:creationId xmlns:a16="http://schemas.microsoft.com/office/drawing/2014/main" id="{0C28BA85-BEB5-4B61-8B54-D756982E2458}"/>
              </a:ext>
            </a:extLst>
          </p:cNvPr>
          <p:cNvSpPr>
            <a:spLocks noGrp="1"/>
          </p:cNvSpPr>
          <p:nvPr/>
        </p:nvSpPr>
        <p:spPr>
          <a:xfrm>
            <a:off x="1207008" y="1463040"/>
            <a:ext cx="1783080" cy="320040"/>
          </a:xfrm>
          <a:prstGeom prst="rect">
            <a:avLst/>
          </a:prstGeom>
          <a:noFill/>
        </p:spPr>
        <p:txBody>
          <a:bodyPr wrap="square" lIns="0" tIns="0" rIns="0" bIns="0" anchor="t"/>
          <a:lstStyle/>
          <a:p>
            <a:pPr marL="0" indent="0">
              <a:buNone/>
            </a:pPr>
            <a:r>
              <a:rPr sz="1400" b="1">
                <a:solidFill>
                  <a:srgbClr val="006B45"/>
                </a:solidFill>
                <a:latin typeface="Calibri"/>
                <a:ea typeface="Calibri"/>
                <a:cs typeface="Calibri"/>
              </a:rPr>
              <a:t>Opérationnel</a:t>
            </a:r>
            <a:endParaRPr sz="1400"/>
          </a:p>
        </p:txBody>
      </p:sp>
      <p:sp>
        <p:nvSpPr>
          <p:cNvPr id="10" name="Text 7">
            <a:extLst>
              <a:ext uri="{FF2B5EF4-FFF2-40B4-BE49-F238E27FC236}">
                <a16:creationId xmlns:a16="http://schemas.microsoft.com/office/drawing/2014/main" id="{CC501F44-D466-487D-B4CD-1A3B01DDC6CC}"/>
              </a:ext>
            </a:extLst>
          </p:cNvPr>
          <p:cNvSpPr>
            <a:spLocks noGrp="1"/>
          </p:cNvSpPr>
          <p:nvPr/>
        </p:nvSpPr>
        <p:spPr>
          <a:xfrm>
            <a:off x="640080" y="2057400"/>
            <a:ext cx="2286000" cy="2468880"/>
          </a:xfrm>
          <a:prstGeom prst="rect">
            <a:avLst/>
          </a:prstGeom>
          <a:noFill/>
        </p:spPr>
        <p:txBody>
          <a:bodyPr wrap="square" lIns="0" tIns="0" rIns="0" bIns="0" anchor="t"/>
          <a:lstStyle/>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Quatre mesures affichées</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Wi-Fi et stockage SQLite</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Historique et alertes</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LED automatique et manuelle</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État de connexion du Pi</a:t>
            </a:r>
            <a:endParaRPr sz="1250"/>
          </a:p>
        </p:txBody>
      </p:sp>
      <p:sp>
        <p:nvSpPr>
          <p:cNvPr id="11" name="Shape 8">
            <a:extLst>
              <a:ext uri="{FF2B5EF4-FFF2-40B4-BE49-F238E27FC236}">
                <a16:creationId xmlns:a16="http://schemas.microsoft.com/office/drawing/2014/main" id="{608DE163-F170-4377-8F73-EDF75EB90B4C}"/>
              </a:ext>
            </a:extLst>
          </p:cNvPr>
          <p:cNvSpPr>
            <a:spLocks noGrp="1"/>
          </p:cNvSpPr>
          <p:nvPr/>
        </p:nvSpPr>
        <p:spPr>
          <a:xfrm>
            <a:off x="3264408" y="1234440"/>
            <a:ext cx="2606040" cy="3383280"/>
          </a:xfrm>
          <a:prstGeom prst="roundRect">
            <a:avLst>
              <a:gd name="adj" fmla="val 2807"/>
            </a:avLst>
          </a:prstGeom>
          <a:noFill/>
          <a:ln w="0">
            <a:noFill/>
          </a:ln>
        </p:spPr>
        <p:txBody>
          <a:bodyPr/>
          <a:lstStyle/>
          <a:p>
            <a:endParaRPr lang="fr-FR"/>
          </a:p>
        </p:txBody>
      </p:sp>
      <p:sp>
        <p:nvSpPr>
          <p:cNvPr id="12" name="Shape 9">
            <a:extLst>
              <a:ext uri="{FF2B5EF4-FFF2-40B4-BE49-F238E27FC236}">
                <a16:creationId xmlns:a16="http://schemas.microsoft.com/office/drawing/2014/main" id="{DB481C3A-3559-408B-B887-CB4A214799D7}"/>
              </a:ext>
            </a:extLst>
          </p:cNvPr>
          <p:cNvSpPr>
            <a:spLocks noGrp="1"/>
          </p:cNvSpPr>
          <p:nvPr/>
        </p:nvSpPr>
        <p:spPr>
          <a:xfrm>
            <a:off x="3447288" y="1389888"/>
            <a:ext cx="457200" cy="457200"/>
          </a:xfrm>
          <a:prstGeom prst="ellipse">
            <a:avLst/>
          </a:prstGeom>
          <a:solidFill>
            <a:srgbClr val="FFF1CE"/>
          </a:solidFill>
          <a:ln w="15875">
            <a:solidFill>
              <a:srgbClr val="955000"/>
            </a:solidFill>
            <a:prstDash val="solid"/>
          </a:ln>
        </p:spPr>
        <p:txBody>
          <a:bodyPr/>
          <a:lstStyle/>
          <a:p>
            <a:endParaRPr lang="fr-FR"/>
          </a:p>
        </p:txBody>
      </p:sp>
      <p:sp>
        <p:nvSpPr>
          <p:cNvPr id="13" name="Text 10">
            <a:extLst>
              <a:ext uri="{FF2B5EF4-FFF2-40B4-BE49-F238E27FC236}">
                <a16:creationId xmlns:a16="http://schemas.microsoft.com/office/drawing/2014/main" id="{5A66DDCA-E423-437B-ACFC-1AF24CCA2492}"/>
              </a:ext>
            </a:extLst>
          </p:cNvPr>
          <p:cNvSpPr>
            <a:spLocks noGrp="1"/>
          </p:cNvSpPr>
          <p:nvPr/>
        </p:nvSpPr>
        <p:spPr>
          <a:xfrm>
            <a:off x="3447288" y="1389888"/>
            <a:ext cx="457200" cy="457200"/>
          </a:xfrm>
          <a:prstGeom prst="rect">
            <a:avLst/>
          </a:prstGeom>
          <a:noFill/>
        </p:spPr>
        <p:txBody>
          <a:bodyPr wrap="square" lIns="0" tIns="0" rIns="0" bIns="0" anchor="ctr"/>
          <a:lstStyle/>
          <a:p>
            <a:pPr marL="0" indent="0" algn="ctr">
              <a:buNone/>
            </a:pPr>
            <a:r>
              <a:rPr sz="1100" b="1">
                <a:solidFill>
                  <a:srgbClr val="955000"/>
                </a:solidFill>
                <a:latin typeface="Arial"/>
                <a:ea typeface="Arial"/>
                <a:cs typeface="Arial"/>
              </a:rPr>
              <a:t>~</a:t>
            </a:r>
            <a:endParaRPr sz="1100"/>
          </a:p>
        </p:txBody>
      </p:sp>
      <p:sp>
        <p:nvSpPr>
          <p:cNvPr id="14" name="Text 11">
            <a:extLst>
              <a:ext uri="{FF2B5EF4-FFF2-40B4-BE49-F238E27FC236}">
                <a16:creationId xmlns:a16="http://schemas.microsoft.com/office/drawing/2014/main" id="{12752195-EFD1-46B4-A04C-F6E467B51608}"/>
              </a:ext>
            </a:extLst>
          </p:cNvPr>
          <p:cNvSpPr>
            <a:spLocks noGrp="1"/>
          </p:cNvSpPr>
          <p:nvPr/>
        </p:nvSpPr>
        <p:spPr>
          <a:xfrm>
            <a:off x="4014216" y="1463040"/>
            <a:ext cx="1783080" cy="320040"/>
          </a:xfrm>
          <a:prstGeom prst="rect">
            <a:avLst/>
          </a:prstGeom>
          <a:noFill/>
        </p:spPr>
        <p:txBody>
          <a:bodyPr wrap="square" lIns="0" tIns="0" rIns="0" bIns="0" anchor="t"/>
          <a:lstStyle/>
          <a:p>
            <a:pPr marL="0" indent="0">
              <a:buNone/>
            </a:pPr>
            <a:r>
              <a:rPr sz="1400" b="1">
                <a:solidFill>
                  <a:srgbClr val="955000"/>
                </a:solidFill>
                <a:latin typeface="Calibri"/>
                <a:ea typeface="Calibri"/>
                <a:cs typeface="Calibri"/>
              </a:rPr>
              <a:t>Simulation</a:t>
            </a:r>
            <a:endParaRPr sz="1400"/>
          </a:p>
        </p:txBody>
      </p:sp>
      <p:sp>
        <p:nvSpPr>
          <p:cNvPr id="15" name="Text 12">
            <a:extLst>
              <a:ext uri="{FF2B5EF4-FFF2-40B4-BE49-F238E27FC236}">
                <a16:creationId xmlns:a16="http://schemas.microsoft.com/office/drawing/2014/main" id="{9F27C61F-906D-4432-B265-50BAE7886FDD}"/>
              </a:ext>
            </a:extLst>
          </p:cNvPr>
          <p:cNvSpPr>
            <a:spLocks noGrp="1"/>
          </p:cNvSpPr>
          <p:nvPr/>
        </p:nvSpPr>
        <p:spPr>
          <a:xfrm>
            <a:off x="3447288" y="2057400"/>
            <a:ext cx="2286000" cy="2468880"/>
          </a:xfrm>
          <a:prstGeom prst="rect">
            <a:avLst/>
          </a:prstGeom>
          <a:noFill/>
        </p:spPr>
        <p:txBody>
          <a:bodyPr wrap="square" lIns="0" tIns="0" rIns="0" bIns="0" anchor="t"/>
          <a:lstStyle/>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Trois cultures et leurs besoins</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Scénario de pénurie d’eau</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Priorisation des cultures</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Historique de démonstration</a:t>
            </a:r>
            <a:endParaRPr sz="1250"/>
          </a:p>
        </p:txBody>
      </p:sp>
      <p:sp>
        <p:nvSpPr>
          <p:cNvPr id="16" name="Shape 13">
            <a:extLst>
              <a:ext uri="{FF2B5EF4-FFF2-40B4-BE49-F238E27FC236}">
                <a16:creationId xmlns:a16="http://schemas.microsoft.com/office/drawing/2014/main" id="{6232A996-60DB-4749-BABA-513D5FE6A6F4}"/>
              </a:ext>
            </a:extLst>
          </p:cNvPr>
          <p:cNvSpPr>
            <a:spLocks noGrp="1"/>
          </p:cNvSpPr>
          <p:nvPr/>
        </p:nvSpPr>
        <p:spPr>
          <a:xfrm>
            <a:off x="6071616" y="1234440"/>
            <a:ext cx="2606040" cy="3383280"/>
          </a:xfrm>
          <a:prstGeom prst="roundRect">
            <a:avLst>
              <a:gd name="adj" fmla="val 2807"/>
            </a:avLst>
          </a:prstGeom>
          <a:noFill/>
          <a:ln w="0">
            <a:noFill/>
          </a:ln>
        </p:spPr>
        <p:txBody>
          <a:bodyPr/>
          <a:lstStyle/>
          <a:p>
            <a:endParaRPr lang="fr-FR"/>
          </a:p>
        </p:txBody>
      </p:sp>
      <p:sp>
        <p:nvSpPr>
          <p:cNvPr id="17" name="Shape 14">
            <a:extLst>
              <a:ext uri="{FF2B5EF4-FFF2-40B4-BE49-F238E27FC236}">
                <a16:creationId xmlns:a16="http://schemas.microsoft.com/office/drawing/2014/main" id="{415449CA-A579-48DB-B7B0-D830DD355333}"/>
              </a:ext>
            </a:extLst>
          </p:cNvPr>
          <p:cNvSpPr>
            <a:spLocks noGrp="1"/>
          </p:cNvSpPr>
          <p:nvPr/>
        </p:nvSpPr>
        <p:spPr>
          <a:xfrm>
            <a:off x="6254496" y="1389888"/>
            <a:ext cx="457200" cy="457200"/>
          </a:xfrm>
          <a:prstGeom prst="ellipse">
            <a:avLst/>
          </a:prstGeom>
          <a:solidFill>
            <a:srgbClr val="FCEAE6"/>
          </a:solidFill>
          <a:ln w="15875">
            <a:solidFill>
              <a:srgbClr val="B33123"/>
            </a:solidFill>
            <a:prstDash val="solid"/>
          </a:ln>
        </p:spPr>
        <p:txBody>
          <a:bodyPr/>
          <a:lstStyle/>
          <a:p>
            <a:endParaRPr lang="fr-FR"/>
          </a:p>
        </p:txBody>
      </p:sp>
      <p:sp>
        <p:nvSpPr>
          <p:cNvPr id="18" name="Text 15">
            <a:extLst>
              <a:ext uri="{FF2B5EF4-FFF2-40B4-BE49-F238E27FC236}">
                <a16:creationId xmlns:a16="http://schemas.microsoft.com/office/drawing/2014/main" id="{2950281F-986F-4EAC-AF2C-73AC23C3E6DE}"/>
              </a:ext>
            </a:extLst>
          </p:cNvPr>
          <p:cNvSpPr>
            <a:spLocks noGrp="1"/>
          </p:cNvSpPr>
          <p:nvPr/>
        </p:nvSpPr>
        <p:spPr>
          <a:xfrm>
            <a:off x="6254496" y="1389888"/>
            <a:ext cx="457200" cy="457200"/>
          </a:xfrm>
          <a:prstGeom prst="rect">
            <a:avLst/>
          </a:prstGeom>
          <a:noFill/>
        </p:spPr>
        <p:txBody>
          <a:bodyPr wrap="square" lIns="0" tIns="0" rIns="0" bIns="0" anchor="ctr"/>
          <a:lstStyle/>
          <a:p>
            <a:pPr marL="0" indent="0" algn="ctr">
              <a:buNone/>
            </a:pPr>
            <a:r>
              <a:rPr sz="1100" b="1">
                <a:solidFill>
                  <a:srgbClr val="B33123"/>
                </a:solidFill>
                <a:latin typeface="Arial"/>
                <a:ea typeface="Arial"/>
                <a:cs typeface="Arial"/>
              </a:rPr>
              <a:t>…</a:t>
            </a:r>
            <a:endParaRPr sz="1100"/>
          </a:p>
        </p:txBody>
      </p:sp>
      <p:sp>
        <p:nvSpPr>
          <p:cNvPr id="19" name="Text 16">
            <a:extLst>
              <a:ext uri="{FF2B5EF4-FFF2-40B4-BE49-F238E27FC236}">
                <a16:creationId xmlns:a16="http://schemas.microsoft.com/office/drawing/2014/main" id="{F567BB3C-1E2D-4775-A0A1-B1417539D5C1}"/>
              </a:ext>
            </a:extLst>
          </p:cNvPr>
          <p:cNvSpPr>
            <a:spLocks noGrp="1"/>
          </p:cNvSpPr>
          <p:nvPr/>
        </p:nvSpPr>
        <p:spPr>
          <a:xfrm>
            <a:off x="6821424" y="1463040"/>
            <a:ext cx="1783080" cy="320040"/>
          </a:xfrm>
          <a:prstGeom prst="rect">
            <a:avLst/>
          </a:prstGeom>
          <a:noFill/>
        </p:spPr>
        <p:txBody>
          <a:bodyPr wrap="square" lIns="0" tIns="0" rIns="0" bIns="0" anchor="t"/>
          <a:lstStyle/>
          <a:p>
            <a:pPr marL="0" indent="0">
              <a:buNone/>
            </a:pPr>
            <a:r>
              <a:rPr sz="1400" b="1">
                <a:solidFill>
                  <a:srgbClr val="B33123"/>
                </a:solidFill>
                <a:latin typeface="Calibri"/>
                <a:ea typeface="Calibri"/>
                <a:cs typeface="Calibri"/>
              </a:rPr>
              <a:t>Améliorations prévues</a:t>
            </a:r>
            <a:endParaRPr sz="1400"/>
          </a:p>
        </p:txBody>
      </p:sp>
      <p:sp>
        <p:nvSpPr>
          <p:cNvPr id="20" name="Text 17">
            <a:extLst>
              <a:ext uri="{FF2B5EF4-FFF2-40B4-BE49-F238E27FC236}">
                <a16:creationId xmlns:a16="http://schemas.microsoft.com/office/drawing/2014/main" id="{2E5FB115-4DE2-447E-ACDB-7114C6D603DA}"/>
              </a:ext>
            </a:extLst>
          </p:cNvPr>
          <p:cNvSpPr>
            <a:spLocks noGrp="1"/>
          </p:cNvSpPr>
          <p:nvPr/>
        </p:nvSpPr>
        <p:spPr>
          <a:xfrm>
            <a:off x="6254496" y="2057400"/>
            <a:ext cx="2286000" cy="2468880"/>
          </a:xfrm>
          <a:prstGeom prst="rect">
            <a:avLst/>
          </a:prstGeom>
          <a:noFill/>
        </p:spPr>
        <p:txBody>
          <a:bodyPr wrap="square" lIns="0" tIns="0" rIns="0" bIns="0" anchor="t"/>
          <a:lstStyle/>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Étalonnage lumière et eau</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Protection des commandes</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Documentation du montage</a:t>
            </a:r>
            <a:endParaRPr sz="1250"/>
          </a:p>
          <a:p>
            <a:pPr marL="152400" indent="-152400">
              <a:spcAft>
                <a:spcPts val="500"/>
              </a:spcAft>
              <a:buSzPct val="100000"/>
              <a:buChar char="•"/>
              <a:defRPr sz="1313">
                <a:solidFill>
                  <a:srgbClr val="142820"/>
                </a:solidFill>
              </a:defRPr>
            </a:pPr>
            <a:r>
              <a:rPr sz="1313">
                <a:solidFill>
                  <a:srgbClr val="142820"/>
                </a:solidFill>
                <a:latin typeface="Calibri"/>
                <a:ea typeface="Calibri"/>
                <a:cs typeface="Calibri"/>
              </a:rPr>
              <a:t>Irrigation reportée</a:t>
            </a:r>
            <a:endParaRPr sz="1250"/>
          </a:p>
        </p:txBody>
      </p:sp>
    </p:spTree>
    <p:extLst>
      <p:ext uri="{BB962C8B-B14F-4D97-AF65-F5344CB8AC3E}">
        <p14:creationId xmlns:p14="http://schemas.microsoft.com/office/powerpoint/2010/main" val="535808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DEDC4356-6089-4ED9-BF73-D4080B1FA012}"/>
              </a:ext>
            </a:extLst>
          </p:cNvPr>
          <p:cNvSpPr>
            <a:spLocks noGrp="1"/>
          </p:cNvSpPr>
          <p:nvPr/>
        </p:nvSpPr>
        <p:spPr>
          <a:xfrm>
            <a:off x="502920" y="411480"/>
            <a:ext cx="4846320" cy="274320"/>
          </a:xfrm>
          <a:prstGeom prst="rect">
            <a:avLst/>
          </a:prstGeom>
          <a:noFill/>
        </p:spPr>
        <p:txBody>
          <a:bodyPr wrap="square" lIns="0" tIns="0" rIns="0" bIns="0" anchor="t"/>
          <a:lstStyle/>
          <a:p>
            <a:pPr marL="0" indent="0">
              <a:buNone/>
            </a:pPr>
            <a:r>
              <a:rPr sz="1000" b="1" spc="200">
                <a:solidFill>
                  <a:srgbClr val="006B45"/>
                </a:solidFill>
                <a:latin typeface="Calibri"/>
                <a:ea typeface="Calibri"/>
                <a:cs typeface="Calibri"/>
              </a:rPr>
              <a:t>PROCHAINES ÉTAPES</a:t>
            </a:r>
            <a:endParaRPr sz="1000"/>
          </a:p>
        </p:txBody>
      </p:sp>
      <p:sp>
        <p:nvSpPr>
          <p:cNvPr id="5" name="Shape 1">
            <a:extLst>
              <a:ext uri="{FF2B5EF4-FFF2-40B4-BE49-F238E27FC236}">
                <a16:creationId xmlns:a16="http://schemas.microsoft.com/office/drawing/2014/main" id="{7F7FEE3F-D743-40FD-ADBF-E562FFB09B8B}"/>
              </a:ext>
            </a:extLst>
          </p:cNvPr>
          <p:cNvSpPr>
            <a:spLocks noGrp="1"/>
          </p:cNvSpPr>
          <p:nvPr/>
        </p:nvSpPr>
        <p:spPr>
          <a:xfrm>
            <a:off x="502920" y="822960"/>
            <a:ext cx="292608" cy="292608"/>
          </a:xfrm>
          <a:prstGeom prst="ellipse">
            <a:avLst/>
          </a:prstGeom>
          <a:solidFill>
            <a:srgbClr val="E7F3EB"/>
          </a:solidFill>
          <a:ln w="15875">
            <a:solidFill>
              <a:srgbClr val="006B45"/>
            </a:solidFill>
            <a:prstDash val="solid"/>
          </a:ln>
        </p:spPr>
        <p:txBody>
          <a:bodyPr/>
          <a:lstStyle/>
          <a:p>
            <a:endParaRPr lang="fr-FR"/>
          </a:p>
        </p:txBody>
      </p:sp>
      <p:sp>
        <p:nvSpPr>
          <p:cNvPr id="6" name="Text 2">
            <a:extLst>
              <a:ext uri="{FF2B5EF4-FFF2-40B4-BE49-F238E27FC236}">
                <a16:creationId xmlns:a16="http://schemas.microsoft.com/office/drawing/2014/main" id="{8FC0FE0B-2711-401D-B777-4BED5D889702}"/>
              </a:ext>
            </a:extLst>
          </p:cNvPr>
          <p:cNvSpPr>
            <a:spLocks noGrp="1"/>
          </p:cNvSpPr>
          <p:nvPr/>
        </p:nvSpPr>
        <p:spPr>
          <a:xfrm>
            <a:off x="502920" y="822960"/>
            <a:ext cx="292608" cy="292608"/>
          </a:xfrm>
          <a:prstGeom prst="rect">
            <a:avLst/>
          </a:prstGeom>
          <a:noFill/>
        </p:spPr>
        <p:txBody>
          <a:bodyPr wrap="square" lIns="0" tIns="0" rIns="0" bIns="0" anchor="ctr"/>
          <a:lstStyle/>
          <a:p>
            <a:pPr marL="0" indent="0" algn="ctr">
              <a:buNone/>
            </a:pPr>
            <a:r>
              <a:rPr sz="704" b="1">
                <a:solidFill>
                  <a:srgbClr val="006B45"/>
                </a:solidFill>
                <a:latin typeface="Arial"/>
                <a:ea typeface="Arial"/>
                <a:cs typeface="Arial"/>
              </a:rPr>
              <a:t>1</a:t>
            </a:r>
            <a:endParaRPr sz="704"/>
          </a:p>
        </p:txBody>
      </p:sp>
      <p:sp>
        <p:nvSpPr>
          <p:cNvPr id="7" name="Text 3">
            <a:extLst>
              <a:ext uri="{FF2B5EF4-FFF2-40B4-BE49-F238E27FC236}">
                <a16:creationId xmlns:a16="http://schemas.microsoft.com/office/drawing/2014/main" id="{4C8D1022-A5ED-4E12-8097-ECB292B654CE}"/>
              </a:ext>
            </a:extLst>
          </p:cNvPr>
          <p:cNvSpPr>
            <a:spLocks noGrp="1"/>
          </p:cNvSpPr>
          <p:nvPr/>
        </p:nvSpPr>
        <p:spPr>
          <a:xfrm>
            <a:off x="914400" y="822960"/>
            <a:ext cx="4480560" cy="292608"/>
          </a:xfrm>
          <a:prstGeom prst="rect">
            <a:avLst/>
          </a:prstGeom>
          <a:noFill/>
        </p:spPr>
        <p:txBody>
          <a:bodyPr wrap="square" lIns="0" tIns="0" rIns="0" bIns="0" anchor="ctr"/>
          <a:lstStyle/>
          <a:p>
            <a:pPr marL="0" indent="0">
              <a:buNone/>
            </a:pPr>
            <a:r>
              <a:rPr sz="1300">
                <a:solidFill>
                  <a:srgbClr val="142820"/>
                </a:solidFill>
                <a:latin typeface="Calibri"/>
                <a:ea typeface="Calibri"/>
                <a:cs typeface="Calibri"/>
              </a:rPr>
              <a:t>Étalonner la lumière et le niveau d’eau</a:t>
            </a:r>
            <a:endParaRPr sz="1300"/>
          </a:p>
        </p:txBody>
      </p:sp>
      <p:sp>
        <p:nvSpPr>
          <p:cNvPr id="8" name="Shape 4">
            <a:extLst>
              <a:ext uri="{FF2B5EF4-FFF2-40B4-BE49-F238E27FC236}">
                <a16:creationId xmlns:a16="http://schemas.microsoft.com/office/drawing/2014/main" id="{CBCCFB03-0A04-4C5F-9774-BAE853D4056F}"/>
              </a:ext>
            </a:extLst>
          </p:cNvPr>
          <p:cNvSpPr>
            <a:spLocks noGrp="1"/>
          </p:cNvSpPr>
          <p:nvPr/>
        </p:nvSpPr>
        <p:spPr>
          <a:xfrm>
            <a:off x="502920" y="1234440"/>
            <a:ext cx="292608" cy="292608"/>
          </a:xfrm>
          <a:prstGeom prst="ellipse">
            <a:avLst/>
          </a:prstGeom>
          <a:solidFill>
            <a:srgbClr val="E7F3EB"/>
          </a:solidFill>
          <a:ln w="15875">
            <a:solidFill>
              <a:srgbClr val="006B45"/>
            </a:solidFill>
            <a:prstDash val="solid"/>
          </a:ln>
        </p:spPr>
        <p:txBody>
          <a:bodyPr/>
          <a:lstStyle/>
          <a:p>
            <a:endParaRPr lang="fr-FR"/>
          </a:p>
        </p:txBody>
      </p:sp>
      <p:sp>
        <p:nvSpPr>
          <p:cNvPr id="9" name="Text 5">
            <a:extLst>
              <a:ext uri="{FF2B5EF4-FFF2-40B4-BE49-F238E27FC236}">
                <a16:creationId xmlns:a16="http://schemas.microsoft.com/office/drawing/2014/main" id="{E2F58711-30EA-453C-98DB-FC3DE8EDAB51}"/>
              </a:ext>
            </a:extLst>
          </p:cNvPr>
          <p:cNvSpPr>
            <a:spLocks noGrp="1"/>
          </p:cNvSpPr>
          <p:nvPr/>
        </p:nvSpPr>
        <p:spPr>
          <a:xfrm>
            <a:off x="502920" y="1234440"/>
            <a:ext cx="292608" cy="292608"/>
          </a:xfrm>
          <a:prstGeom prst="rect">
            <a:avLst/>
          </a:prstGeom>
          <a:noFill/>
        </p:spPr>
        <p:txBody>
          <a:bodyPr wrap="square" lIns="0" tIns="0" rIns="0" bIns="0" anchor="ctr"/>
          <a:lstStyle/>
          <a:p>
            <a:pPr marL="0" indent="0" algn="ctr">
              <a:buNone/>
            </a:pPr>
            <a:r>
              <a:rPr sz="704" b="1">
                <a:solidFill>
                  <a:srgbClr val="006B45"/>
                </a:solidFill>
                <a:latin typeface="Arial"/>
                <a:ea typeface="Arial"/>
                <a:cs typeface="Arial"/>
              </a:rPr>
              <a:t>2</a:t>
            </a:r>
            <a:endParaRPr sz="704"/>
          </a:p>
        </p:txBody>
      </p:sp>
      <p:sp>
        <p:nvSpPr>
          <p:cNvPr id="10" name="Text 6">
            <a:extLst>
              <a:ext uri="{FF2B5EF4-FFF2-40B4-BE49-F238E27FC236}">
                <a16:creationId xmlns:a16="http://schemas.microsoft.com/office/drawing/2014/main" id="{1CA7DD4C-C7A9-4E8A-8447-684E7B292187}"/>
              </a:ext>
            </a:extLst>
          </p:cNvPr>
          <p:cNvSpPr>
            <a:spLocks noGrp="1"/>
          </p:cNvSpPr>
          <p:nvPr/>
        </p:nvSpPr>
        <p:spPr>
          <a:xfrm>
            <a:off x="914400" y="1234440"/>
            <a:ext cx="4480560" cy="292608"/>
          </a:xfrm>
          <a:prstGeom prst="rect">
            <a:avLst/>
          </a:prstGeom>
          <a:noFill/>
        </p:spPr>
        <p:txBody>
          <a:bodyPr wrap="square" lIns="0" tIns="0" rIns="0" bIns="0" anchor="ctr"/>
          <a:lstStyle/>
          <a:p>
            <a:pPr marL="0" indent="0">
              <a:buNone/>
            </a:pPr>
            <a:r>
              <a:rPr sz="1300">
                <a:solidFill>
                  <a:srgbClr val="142820"/>
                </a:solidFill>
                <a:latin typeface="Calibri"/>
                <a:ea typeface="Calibri"/>
                <a:cs typeface="Calibri"/>
              </a:rPr>
              <a:t>Protéger les commandes du site</a:t>
            </a:r>
            <a:endParaRPr sz="1300"/>
          </a:p>
        </p:txBody>
      </p:sp>
      <p:sp>
        <p:nvSpPr>
          <p:cNvPr id="11" name="Shape 7">
            <a:extLst>
              <a:ext uri="{FF2B5EF4-FFF2-40B4-BE49-F238E27FC236}">
                <a16:creationId xmlns:a16="http://schemas.microsoft.com/office/drawing/2014/main" id="{E1832698-12AB-47B8-8B57-B67F6346776B}"/>
              </a:ext>
            </a:extLst>
          </p:cNvPr>
          <p:cNvSpPr>
            <a:spLocks noGrp="1"/>
          </p:cNvSpPr>
          <p:nvPr/>
        </p:nvSpPr>
        <p:spPr>
          <a:xfrm>
            <a:off x="502920" y="1645920"/>
            <a:ext cx="292608" cy="292608"/>
          </a:xfrm>
          <a:prstGeom prst="ellipse">
            <a:avLst/>
          </a:prstGeom>
          <a:solidFill>
            <a:srgbClr val="E7F3EB"/>
          </a:solidFill>
          <a:ln w="15875">
            <a:solidFill>
              <a:srgbClr val="006B45"/>
            </a:solidFill>
            <a:prstDash val="solid"/>
          </a:ln>
        </p:spPr>
        <p:txBody>
          <a:bodyPr/>
          <a:lstStyle/>
          <a:p>
            <a:endParaRPr lang="fr-FR"/>
          </a:p>
        </p:txBody>
      </p:sp>
      <p:sp>
        <p:nvSpPr>
          <p:cNvPr id="12" name="Text 8">
            <a:extLst>
              <a:ext uri="{FF2B5EF4-FFF2-40B4-BE49-F238E27FC236}">
                <a16:creationId xmlns:a16="http://schemas.microsoft.com/office/drawing/2014/main" id="{75A77AC2-AF34-47C5-B6C5-901A6615F689}"/>
              </a:ext>
            </a:extLst>
          </p:cNvPr>
          <p:cNvSpPr>
            <a:spLocks noGrp="1"/>
          </p:cNvSpPr>
          <p:nvPr/>
        </p:nvSpPr>
        <p:spPr>
          <a:xfrm>
            <a:off x="502920" y="1645920"/>
            <a:ext cx="292608" cy="292608"/>
          </a:xfrm>
          <a:prstGeom prst="rect">
            <a:avLst/>
          </a:prstGeom>
          <a:noFill/>
        </p:spPr>
        <p:txBody>
          <a:bodyPr wrap="square" lIns="0" tIns="0" rIns="0" bIns="0" anchor="ctr"/>
          <a:lstStyle/>
          <a:p>
            <a:pPr marL="0" indent="0" algn="ctr">
              <a:buNone/>
            </a:pPr>
            <a:r>
              <a:rPr sz="704" b="1">
                <a:solidFill>
                  <a:srgbClr val="006B45"/>
                </a:solidFill>
                <a:latin typeface="Arial"/>
                <a:ea typeface="Arial"/>
                <a:cs typeface="Arial"/>
              </a:rPr>
              <a:t>3</a:t>
            </a:r>
            <a:endParaRPr sz="704"/>
          </a:p>
        </p:txBody>
      </p:sp>
      <p:sp>
        <p:nvSpPr>
          <p:cNvPr id="13" name="Text 9">
            <a:extLst>
              <a:ext uri="{FF2B5EF4-FFF2-40B4-BE49-F238E27FC236}">
                <a16:creationId xmlns:a16="http://schemas.microsoft.com/office/drawing/2014/main" id="{F55D24F4-7BFD-418F-A975-4B6CFB8C3BB4}"/>
              </a:ext>
            </a:extLst>
          </p:cNvPr>
          <p:cNvSpPr>
            <a:spLocks noGrp="1"/>
          </p:cNvSpPr>
          <p:nvPr/>
        </p:nvSpPr>
        <p:spPr>
          <a:xfrm>
            <a:off x="914400" y="1645920"/>
            <a:ext cx="4480560" cy="292608"/>
          </a:xfrm>
          <a:prstGeom prst="rect">
            <a:avLst/>
          </a:prstGeom>
          <a:noFill/>
        </p:spPr>
        <p:txBody>
          <a:bodyPr wrap="square" lIns="0" tIns="0" rIns="0" bIns="0" anchor="ctr"/>
          <a:lstStyle/>
          <a:p>
            <a:pPr marL="0" indent="0">
              <a:buNone/>
            </a:pPr>
            <a:r>
              <a:rPr sz="1300">
                <a:solidFill>
                  <a:srgbClr val="142820"/>
                </a:solidFill>
                <a:latin typeface="Calibri"/>
                <a:ea typeface="Calibri"/>
                <a:cs typeface="Calibri"/>
              </a:rPr>
              <a:t>Préciser les alertes et leurs seuils</a:t>
            </a:r>
            <a:endParaRPr sz="1300"/>
          </a:p>
        </p:txBody>
      </p:sp>
      <p:sp>
        <p:nvSpPr>
          <p:cNvPr id="14" name="Shape 10">
            <a:extLst>
              <a:ext uri="{FF2B5EF4-FFF2-40B4-BE49-F238E27FC236}">
                <a16:creationId xmlns:a16="http://schemas.microsoft.com/office/drawing/2014/main" id="{FD1CA58E-E59F-4ED4-9F9E-32FC7F6D3FCF}"/>
              </a:ext>
            </a:extLst>
          </p:cNvPr>
          <p:cNvSpPr>
            <a:spLocks noGrp="1"/>
          </p:cNvSpPr>
          <p:nvPr/>
        </p:nvSpPr>
        <p:spPr>
          <a:xfrm>
            <a:off x="502920" y="2057400"/>
            <a:ext cx="292608" cy="292608"/>
          </a:xfrm>
          <a:prstGeom prst="ellipse">
            <a:avLst/>
          </a:prstGeom>
          <a:solidFill>
            <a:srgbClr val="E7F3EB"/>
          </a:solidFill>
          <a:ln w="15875">
            <a:solidFill>
              <a:srgbClr val="006B45"/>
            </a:solidFill>
            <a:prstDash val="solid"/>
          </a:ln>
        </p:spPr>
        <p:txBody>
          <a:bodyPr/>
          <a:lstStyle/>
          <a:p>
            <a:endParaRPr lang="fr-FR"/>
          </a:p>
        </p:txBody>
      </p:sp>
      <p:sp>
        <p:nvSpPr>
          <p:cNvPr id="15" name="Text 11">
            <a:extLst>
              <a:ext uri="{FF2B5EF4-FFF2-40B4-BE49-F238E27FC236}">
                <a16:creationId xmlns:a16="http://schemas.microsoft.com/office/drawing/2014/main" id="{B87B445E-60DB-4D73-A1DC-398A469FC131}"/>
              </a:ext>
            </a:extLst>
          </p:cNvPr>
          <p:cNvSpPr>
            <a:spLocks noGrp="1"/>
          </p:cNvSpPr>
          <p:nvPr/>
        </p:nvSpPr>
        <p:spPr>
          <a:xfrm>
            <a:off x="502920" y="2057400"/>
            <a:ext cx="292608" cy="292608"/>
          </a:xfrm>
          <a:prstGeom prst="rect">
            <a:avLst/>
          </a:prstGeom>
          <a:noFill/>
        </p:spPr>
        <p:txBody>
          <a:bodyPr wrap="square" lIns="0" tIns="0" rIns="0" bIns="0" anchor="ctr"/>
          <a:lstStyle/>
          <a:p>
            <a:pPr marL="0" indent="0" algn="ctr">
              <a:buNone/>
            </a:pPr>
            <a:r>
              <a:rPr sz="704" b="1">
                <a:solidFill>
                  <a:srgbClr val="006B45"/>
                </a:solidFill>
                <a:latin typeface="Arial"/>
                <a:ea typeface="Arial"/>
                <a:cs typeface="Arial"/>
              </a:rPr>
              <a:t>4</a:t>
            </a:r>
            <a:endParaRPr sz="704"/>
          </a:p>
        </p:txBody>
      </p:sp>
      <p:sp>
        <p:nvSpPr>
          <p:cNvPr id="16" name="Text 12">
            <a:extLst>
              <a:ext uri="{FF2B5EF4-FFF2-40B4-BE49-F238E27FC236}">
                <a16:creationId xmlns:a16="http://schemas.microsoft.com/office/drawing/2014/main" id="{947BDEE5-DB9A-4898-AE58-5CB7564C8964}"/>
              </a:ext>
            </a:extLst>
          </p:cNvPr>
          <p:cNvSpPr>
            <a:spLocks noGrp="1"/>
          </p:cNvSpPr>
          <p:nvPr/>
        </p:nvSpPr>
        <p:spPr>
          <a:xfrm>
            <a:off x="914400" y="2057400"/>
            <a:ext cx="4480560" cy="292608"/>
          </a:xfrm>
          <a:prstGeom prst="rect">
            <a:avLst/>
          </a:prstGeom>
          <a:noFill/>
        </p:spPr>
        <p:txBody>
          <a:bodyPr wrap="square" lIns="0" tIns="0" rIns="0" bIns="0" anchor="ctr"/>
          <a:lstStyle/>
          <a:p>
            <a:pPr marL="0" indent="0">
              <a:buNone/>
            </a:pPr>
            <a:r>
              <a:rPr sz="1300">
                <a:solidFill>
                  <a:srgbClr val="142820"/>
                </a:solidFill>
                <a:latin typeface="Calibri"/>
                <a:ea typeface="Calibri"/>
                <a:cs typeface="Calibri"/>
              </a:rPr>
              <a:t>Documenter le montage et l’installation</a:t>
            </a:r>
            <a:endParaRPr sz="1300"/>
          </a:p>
        </p:txBody>
      </p:sp>
      <p:sp>
        <p:nvSpPr>
          <p:cNvPr id="17" name="Text 13">
            <a:extLst>
              <a:ext uri="{FF2B5EF4-FFF2-40B4-BE49-F238E27FC236}">
                <a16:creationId xmlns:a16="http://schemas.microsoft.com/office/drawing/2014/main" id="{670161BC-9F25-4FAE-80C5-BA178EE88BD7}"/>
              </a:ext>
            </a:extLst>
          </p:cNvPr>
          <p:cNvSpPr>
            <a:spLocks noGrp="1"/>
          </p:cNvSpPr>
          <p:nvPr/>
        </p:nvSpPr>
        <p:spPr>
          <a:xfrm>
            <a:off x="502920" y="2651760"/>
            <a:ext cx="4754880" cy="1005840"/>
          </a:xfrm>
          <a:prstGeom prst="rect">
            <a:avLst/>
          </a:prstGeom>
          <a:noFill/>
        </p:spPr>
        <p:txBody>
          <a:bodyPr wrap="square" lIns="0" tIns="0" rIns="0" bIns="0" anchor="t"/>
          <a:lstStyle/>
          <a:p>
            <a:pPr marL="0" indent="0">
              <a:buNone/>
              <a:defRPr sz="1875" b="1" i="0">
                <a:solidFill>
                  <a:srgbClr val="142820"/>
                </a:solidFill>
              </a:defRPr>
            </a:pPr>
            <a:r>
              <a:rPr sz="1875" b="1" i="0">
                <a:solidFill>
                  <a:srgbClr val="142820"/>
                </a:solidFill>
                <a:latin typeface="Arial"/>
                <a:ea typeface="Arial"/>
                <a:cs typeface="Arial"/>
              </a:rPr>
              <a:t>Un prototype local pour suivre quatre mesures, consulter l’historique et piloter l’éclairage.</a:t>
            </a:r>
            <a:endParaRPr sz="1900"/>
          </a:p>
        </p:txBody>
      </p:sp>
      <p:sp>
        <p:nvSpPr>
          <p:cNvPr id="18" name="Text 14">
            <a:extLst>
              <a:ext uri="{FF2B5EF4-FFF2-40B4-BE49-F238E27FC236}">
                <a16:creationId xmlns:a16="http://schemas.microsoft.com/office/drawing/2014/main" id="{8C023356-30C2-481C-8731-71DC6162D2BC}"/>
              </a:ext>
            </a:extLst>
          </p:cNvPr>
          <p:cNvSpPr>
            <a:spLocks noGrp="1"/>
          </p:cNvSpPr>
          <p:nvPr/>
        </p:nvSpPr>
        <p:spPr>
          <a:xfrm>
            <a:off x="502920" y="4023360"/>
            <a:ext cx="4754880" cy="502920"/>
          </a:xfrm>
          <a:prstGeom prst="rect">
            <a:avLst/>
          </a:prstGeom>
          <a:noFill/>
        </p:spPr>
        <p:txBody>
          <a:bodyPr wrap="square" lIns="0" tIns="0" rIns="0" bIns="0" anchor="t"/>
          <a:lstStyle/>
          <a:p>
            <a:pPr marL="0" indent="0">
              <a:buNone/>
            </a:pPr>
            <a:r>
              <a:rPr sz="2600" b="1">
                <a:solidFill>
                  <a:srgbClr val="006B45"/>
                </a:solidFill>
                <a:latin typeface="Arial"/>
                <a:ea typeface="Arial"/>
                <a:cs typeface="Arial"/>
              </a:rPr>
              <a:t>Merci pour votre attention</a:t>
            </a:r>
            <a:endParaRPr sz="2600"/>
          </a:p>
        </p:txBody>
      </p:sp>
      <p:pic>
        <p:nvPicPr>
          <p:cNvPr id="20" name="Image 0"/>
          <p:cNvPicPr>
            <a:picLocks noChangeAspect="1"/>
          </p:cNvPicPr>
          <p:nvPr/>
        </p:nvPicPr>
        <p:blipFill>
          <a:blip r:embed="rId3"/>
          <a:srcRect/>
          <a:stretch/>
        </p:blipFill>
        <p:spPr>
          <a:xfrm>
            <a:off x="5577840" y="0"/>
            <a:ext cx="3566160" cy="5143500"/>
          </a:xfrm>
          <a:prstGeom prst="rect">
            <a:avLst/>
          </a:prstGeom>
        </p:spPr>
      </p:pic>
    </p:spTree>
    <p:extLst>
      <p:ext uri="{BB962C8B-B14F-4D97-AF65-F5344CB8AC3E}">
        <p14:creationId xmlns:p14="http://schemas.microsoft.com/office/powerpoint/2010/main" val="1071708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1833</Words>
  <Application>Microsoft Office PowerPoint</Application>
  <DocSecurity>0</DocSecurity>
  <PresentationFormat>Affichage à l'écran (16:9)</PresentationFormat>
  <Paragraphs>226</Paragraphs>
  <Slides>12</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Consolas</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Franck Raymond</cp:lastModifiedBy>
  <cp:revision>1</cp:revision>
  <dcterms:created xsi:type="dcterms:W3CDTF">2026-09-24T09:16:15Z</dcterms:created>
  <dcterms:modified xsi:type="dcterms:W3CDTF">2026-09-24T12:33:33Z</dcterms:modified>
</cp:coreProperties>
</file>